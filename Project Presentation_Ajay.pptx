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75" r:id="rId3"/>
    <p:sldId id="264" r:id="rId4"/>
    <p:sldId id="266" r:id="rId5"/>
    <p:sldId id="276" r:id="rId6"/>
    <p:sldId id="263" r:id="rId7"/>
    <p:sldId id="262" r:id="rId8"/>
    <p:sldId id="277" r:id="rId9"/>
    <p:sldId id="257" r:id="rId10"/>
    <p:sldId id="273" r:id="rId11"/>
    <p:sldId id="274" r:id="rId12"/>
    <p:sldId id="280" r:id="rId13"/>
    <p:sldId id="267" r:id="rId14"/>
    <p:sldId id="297" r:id="rId15"/>
    <p:sldId id="301" r:id="rId16"/>
    <p:sldId id="299" r:id="rId17"/>
    <p:sldId id="284" r:id="rId18"/>
    <p:sldId id="302" r:id="rId19"/>
    <p:sldId id="285" r:id="rId20"/>
    <p:sldId id="283" r:id="rId21"/>
    <p:sldId id="292" r:id="rId22"/>
    <p:sldId id="293" r:id="rId23"/>
    <p:sldId id="294" r:id="rId24"/>
    <p:sldId id="289" r:id="rId25"/>
    <p:sldId id="291" r:id="rId26"/>
    <p:sldId id="282" r:id="rId27"/>
    <p:sldId id="303" r:id="rId28"/>
    <p:sldId id="287" r:id="rId29"/>
    <p:sldId id="268" r:id="rId30"/>
    <p:sldId id="279" r:id="rId31"/>
    <p:sldId id="271" r:id="rId32"/>
    <p:sldId id="258" r:id="rId33"/>
    <p:sldId id="256" r:id="rId34"/>
    <p:sldId id="272" r:id="rId35"/>
    <p:sldId id="259" r:id="rId36"/>
    <p:sldId id="260" r:id="rId37"/>
    <p:sldId id="26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108"/>
    <p:restoredTop sz="94530"/>
  </p:normalViewPr>
  <p:slideViewPr>
    <p:cSldViewPr snapToGrid="0">
      <p:cViewPr varScale="1">
        <p:scale>
          <a:sx n="67" d="100"/>
          <a:sy n="67" d="100"/>
        </p:scale>
        <p:origin x="176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ECEB6-B7EA-DCD1-4F24-DBD3558A7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715B6-DEC1-AC09-BFA3-A83F31DBF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6F562-3C9D-B094-F292-2956819F7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6F619-8F3A-8C49-A221-6D0F1BCE6FFE}" type="datetimeFigureOut">
              <a:rPr lang="en-US" smtClean="0"/>
              <a:t>6/8/25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1AF58-C1C1-03EC-F922-A5EE2476B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E61D7-1B51-9312-AD07-97ACB94C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8556C-9795-1CB9-079D-0419A5D64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4FF09-FA8F-E9A1-FA56-BCED360B7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44CF6-6553-A8A9-56F1-032ADF09B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6F619-8F3A-8C49-A221-6D0F1BCE6FFE}" type="datetimeFigureOut">
              <a:rPr lang="en-US" smtClean="0"/>
              <a:t>6/8/25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8B8B8-41E2-8D09-82D2-C4945B30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F6168-5D18-FDE7-325B-1C0AD54E4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7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20D6-7351-E5AD-95D9-0FE9E951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CA8E8-F9C0-C21F-D274-A2417FEF8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7B14A-E6E0-0FCE-9AF9-6F2BF7D11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6F619-8F3A-8C49-A221-6D0F1BCE6FFE}" type="datetimeFigureOut">
              <a:rPr lang="en-US" smtClean="0"/>
              <a:t>6/8/25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D4877-BF76-B9F9-50FE-655E9049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76B34-C13C-4F18-38E9-05F98306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05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EE8FD-E820-557D-AB3F-D6FCB4E2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AD48D-C59C-7B9A-B30F-85C5818AD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B632C-05A3-39F6-EB86-2C8A3D21B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A64C1-4A7C-493A-EBAB-ABC94D44B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6F619-8F3A-8C49-A221-6D0F1BCE6FFE}" type="datetimeFigureOut">
              <a:rPr lang="en-US" smtClean="0"/>
              <a:t>6/8/25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2029F-F0F7-DF5C-7FBE-96DF181E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7D726-618F-1951-5B63-2FFE0EC3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7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B36EE-271D-BA14-2C22-BB06C4D0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B4113-C5D7-EDF7-11E5-D105033AF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61FEC-DAD7-187C-AF8D-8980ED80D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0C60A-C3FC-076D-9870-A8E2C30CD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81A2C6-0722-0FEE-61F7-F5437969A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813CC5-187B-1A8C-8EC9-5BD4F1900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6F619-8F3A-8C49-A221-6D0F1BCE6FFE}" type="datetimeFigureOut">
              <a:rPr lang="en-US" smtClean="0"/>
              <a:t>6/8/25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2AB40C-8849-839D-7DD2-6FAB2A3E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D603A4-2889-D257-6D03-284006E2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39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1792-8CE0-3BE1-3CD0-E33E8E644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85E27-06CB-CDBB-D8D4-22DFA6B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6F619-8F3A-8C49-A221-6D0F1BCE6FFE}" type="datetimeFigureOut">
              <a:rPr lang="en-US" smtClean="0"/>
              <a:t>6/8/25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E4EDB-B6CF-984E-0201-B1BAC550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F7AEF-D551-D11F-4F30-3D55414D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2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E4FDF4-FC51-84BF-278C-86F6CEFBE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6F619-8F3A-8C49-A221-6D0F1BCE6FFE}" type="datetimeFigureOut">
              <a:rPr lang="en-US" smtClean="0"/>
              <a:t>6/8/25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C4320E-884D-532B-A39E-BB157F83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620B0-92F5-DC86-BFFB-B718368F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7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D0A1-ABE6-075B-C9CA-A5516DF9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BEA70-5CD3-C2CE-8439-BB5972986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81F56-1FE4-38CF-3A78-14931D234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5A393-95D4-404A-E4A6-47DB1C83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6F619-8F3A-8C49-A221-6D0F1BCE6FFE}" type="datetimeFigureOut">
              <a:rPr lang="en-US" smtClean="0"/>
              <a:t>6/8/25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D8ABF-A05F-74E8-DEA2-BC1AE7CC5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77641-D802-9DE3-114C-07E8E441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2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4300-E6D4-08F8-6AD9-6D3E11EFC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B653A5-F0C4-AB43-70E4-864DA6D83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E221C-7C38-8F79-70C5-0FDD0D73D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01313-A727-CA53-EB60-7AE2AD2F5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6F619-8F3A-8C49-A221-6D0F1BCE6FFE}" type="datetimeFigureOut">
              <a:rPr lang="en-US" smtClean="0"/>
              <a:t>6/8/25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48C74-D106-95D2-02CF-B2047530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00040-7D98-09ED-F631-2FCDF207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3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70C3-4B8F-4481-C5C7-C6F0620F8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409A4-5AAC-CC36-F461-71827CB61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893E-F761-0BB6-CCD0-512C2A908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6F619-8F3A-8C49-A221-6D0F1BCE6FFE}" type="datetimeFigureOut">
              <a:rPr lang="en-US" smtClean="0"/>
              <a:t>6/8/25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42C1-8C01-4896-671D-69BBB284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56B7C-1DCE-50A0-C961-10AC6778E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17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7634C0-9DD1-4B68-4AF2-18DBECD05F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EB452-2C93-5131-A570-43CA6E774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9E9EE-BECD-F01C-8D64-7BF80189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6F619-8F3A-8C49-A221-6D0F1BCE6FFE}" type="datetimeFigureOut">
              <a:rPr lang="en-US" smtClean="0"/>
              <a:t>6/8/25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41621-D80F-FFF8-EB25-C4911D0BC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79C87-E367-FBA5-0D85-AA194770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30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42F29-C68F-8F94-B21A-09B268C7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4A41-7499-1BFC-E597-C2D41B978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0C63F-3E52-713D-1410-175CA34A3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6F619-8F3A-8C49-A221-6D0F1BCE6FFE}" type="datetimeFigureOut">
              <a:rPr lang="en-US" smtClean="0"/>
              <a:t>6/8/25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0691F-6B97-9457-430E-6D8B2BC11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ECEA2-3BA0-B039-CD8A-39DDD7592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BD2C-8BA7-494C-8998-8475D74EB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8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n.wikipedia.org/wiki/Probiotic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xtflow.i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leth-advanced-bioinformatics/BCHM5420A-summer-2025" TargetMode="External"/><Relationship Id="rId2" Type="http://schemas.openxmlformats.org/officeDocument/2006/relationships/hyperlink" Target="https://github.com/nf-core/phyloplace/tree/1.0.0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A9E42-321B-0622-FB23-C5DB9DB99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38024-D927-BB7C-4B8D-F4E635A0A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14EB5-C173-3421-D190-6E7E9CFEC45D}"/>
              </a:ext>
            </a:extLst>
          </p:cNvPr>
          <p:cNvSpPr txBox="1"/>
          <p:nvPr/>
        </p:nvSpPr>
        <p:spPr>
          <a:xfrm>
            <a:off x="81456" y="531668"/>
            <a:ext cx="11272344" cy="579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GB" sz="4000" b="1" i="0" dirty="0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Phylogenetic Analysis of </a:t>
            </a:r>
            <a:r>
              <a:rPr lang="en-GB" sz="4000" b="1" i="1" dirty="0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Lactobacillus</a:t>
            </a:r>
            <a:r>
              <a:rPr lang="en-GB" sz="4000" b="1" i="0" dirty="0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 spp.</a:t>
            </a: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GB" sz="4000" b="1" i="0" dirty="0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 Using </a:t>
            </a:r>
            <a:r>
              <a:rPr lang="en-GB" sz="4000" b="1" i="0" dirty="0" err="1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nf</a:t>
            </a:r>
            <a:r>
              <a:rPr lang="en-GB" sz="4000" b="1" i="0" dirty="0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-core/</a:t>
            </a:r>
            <a:r>
              <a:rPr lang="en-GB" sz="4000" b="1" i="0" dirty="0" err="1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phyloplace</a:t>
            </a:r>
            <a:r>
              <a:rPr lang="en-GB" sz="4000" b="1" i="0" dirty="0">
                <a:solidFill>
                  <a:srgbClr val="FF0000"/>
                </a:solidFill>
                <a:effectLst/>
                <a:latin typeface="+mj-lt"/>
                <a:cs typeface="Arial" panose="020B0604020202020204" pitchFamily="34" charset="0"/>
              </a:rPr>
              <a:t> Pipeline</a:t>
            </a:r>
          </a:p>
          <a:p>
            <a:pPr algn="ctr">
              <a:spcAft>
                <a:spcPts val="1200"/>
              </a:spcAft>
            </a:pPr>
            <a:endParaRPr lang="en-GB" sz="4500" b="1" dirty="0">
              <a:latin typeface="-apple-system"/>
            </a:endParaRPr>
          </a:p>
          <a:p>
            <a:pPr algn="ctr">
              <a:spcAft>
                <a:spcPts val="1200"/>
              </a:spcAft>
            </a:pPr>
            <a:endParaRPr lang="en-GB" sz="20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Advanced Bioinformatics (BCHM5420) </a:t>
            </a: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University of Lethbridge</a:t>
            </a:r>
            <a:endParaRPr lang="en-GB" sz="20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200"/>
              </a:spcAft>
            </a:pPr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GB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Ajay Poudel</a:t>
            </a:r>
          </a:p>
        </p:txBody>
      </p:sp>
      <p:pic>
        <p:nvPicPr>
          <p:cNvPr id="1026" name="Picture 2" descr="DNA data analytics representation made up of hexagonal shapes and alphabet letters">
            <a:extLst>
              <a:ext uri="{FF2B5EF4-FFF2-40B4-BE49-F238E27FC236}">
                <a16:creationId xmlns:a16="http://schemas.microsoft.com/office/drawing/2014/main" id="{5502B91F-58E1-4BBF-95C1-9BB535AF3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149" y="4743450"/>
            <a:ext cx="3525565" cy="186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833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3C7A5-0D52-8FA3-85D8-782CA32B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A3A41-932C-A8CD-5ED1-A199A09F0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620" y="1557611"/>
            <a:ext cx="6574222" cy="4351338"/>
          </a:xfrm>
          <a:ln w="9525">
            <a:noFill/>
          </a:ln>
        </p:spPr>
        <p:txBody>
          <a:bodyPr>
            <a:normAutofit fontScale="925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Background information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Your research question &amp; hypothesis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Analysis and Methods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Results and Visualizations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Discussion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Limitations &amp; Caveats</a:t>
            </a:r>
          </a:p>
        </p:txBody>
      </p:sp>
    </p:spTree>
    <p:extLst>
      <p:ext uri="{BB962C8B-B14F-4D97-AF65-F5344CB8AC3E}">
        <p14:creationId xmlns:p14="http://schemas.microsoft.com/office/powerpoint/2010/main" val="2516061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37C30-3DE8-5309-17DD-A22DD725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68" y="-255062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>
                <a:solidFill>
                  <a:srgbClr val="FF0000"/>
                </a:solidFill>
                <a:cs typeface="Arial" panose="020B0604020202020204" pitchFamily="34" charset="0"/>
              </a:rPr>
              <a:t>1. Background information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13EA2-417E-7750-3196-0B2765ADB61D}"/>
              </a:ext>
            </a:extLst>
          </p:cNvPr>
          <p:cNvSpPr txBox="1"/>
          <p:nvPr/>
        </p:nvSpPr>
        <p:spPr>
          <a:xfrm>
            <a:off x="8518635" y="6031893"/>
            <a:ext cx="9362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Source: Lactobacillus </a:t>
            </a:r>
            <a:r>
              <a:rPr lang="en-GB" dirty="0"/>
              <a:t>(Wikipedia)</a:t>
            </a:r>
            <a:r>
              <a:rPr lang="en-GB" i="1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CE26B-2E6D-00E1-1EC5-C346061EADF3}"/>
              </a:ext>
            </a:extLst>
          </p:cNvPr>
          <p:cNvSpPr txBox="1"/>
          <p:nvPr/>
        </p:nvSpPr>
        <p:spPr>
          <a:xfrm>
            <a:off x="266699" y="1070501"/>
            <a:ext cx="10350869" cy="25630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1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Lactobacilli </a:t>
            </a:r>
            <a:r>
              <a:rPr lang="en-GB" sz="24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are bacteria that colonised human and animal body sites, such as the digestive tract and the female genital tract.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Lactobacilli are among the most common 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  <a:hlinkClick r:id="rId2" tooltip="Probiotic"/>
              </a:rPr>
              <a:t>probiotic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 found in food (such as yogurt),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E0E7B-8C8E-25B2-6851-0CDA96C93446}"/>
              </a:ext>
            </a:extLst>
          </p:cNvPr>
          <p:cNvSpPr txBox="1"/>
          <p:nvPr/>
        </p:nvSpPr>
        <p:spPr>
          <a:xfrm>
            <a:off x="4969737" y="5556666"/>
            <a:ext cx="8986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Lactobacillus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sp. near a squamous epithelial cell.</a:t>
            </a:r>
          </a:p>
        </p:txBody>
      </p:sp>
      <p:pic>
        <p:nvPicPr>
          <p:cNvPr id="1026" name="Picture 2" descr="&quot;Lactobacillus&quot; sp. near a squamous epithelial cell">
            <a:extLst>
              <a:ext uri="{FF2B5EF4-FFF2-40B4-BE49-F238E27FC236}">
                <a16:creationId xmlns:a16="http://schemas.microsoft.com/office/drawing/2014/main" id="{FE15591B-1BD4-CEBB-876E-C948EE086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035" y="3333372"/>
            <a:ext cx="2776045" cy="2209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9289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971D0-5FD1-D91F-90FD-82548535E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75" y="0"/>
            <a:ext cx="8826062" cy="1325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cs typeface="Arial" panose="020B0604020202020204" pitchFamily="34" charset="0"/>
              </a:rPr>
              <a:t>The bioinformatic tools that my project will be focusing: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A38AC-C82D-F1BE-F0BB-AF538A478A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04"/>
          <a:stretch>
            <a:fillRect/>
          </a:stretch>
        </p:blipFill>
        <p:spPr>
          <a:xfrm>
            <a:off x="676775" y="1010008"/>
            <a:ext cx="10194125" cy="31174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6C9C06-0204-9482-DC91-1813B159BEB5}"/>
              </a:ext>
            </a:extLst>
          </p:cNvPr>
          <p:cNvSpPr txBox="1"/>
          <p:nvPr/>
        </p:nvSpPr>
        <p:spPr>
          <a:xfrm>
            <a:off x="329753" y="4160084"/>
            <a:ext cx="11655418" cy="25687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pipeline is built using </a:t>
            </a:r>
            <a:r>
              <a:rPr lang="en-GB" sz="2200" b="0" i="0" u="sng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Nextflow</a:t>
            </a:r>
            <a:r>
              <a:rPr lang="en-GB" sz="22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It uses Docker/Singularity containers making installation trivial and results highly reproducible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Conda as a last resort i.e. when it’s not possible to run the pipeline with Docker, Singularity, 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Podman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, Shifter or 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Charliecloud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2200" b="0" i="0" dirty="0">
              <a:solidFill>
                <a:srgbClr val="21252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793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FF9A-60F9-DB78-338D-6DB24BE7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41" y="33359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Uses of </a:t>
            </a:r>
            <a:r>
              <a:rPr lang="en-US" sz="3600" b="1" dirty="0" err="1">
                <a:solidFill>
                  <a:srgbClr val="FF0000"/>
                </a:solidFill>
              </a:rPr>
              <a:t>nf</a:t>
            </a:r>
            <a:r>
              <a:rPr lang="en-US" sz="3600" b="1" dirty="0">
                <a:solidFill>
                  <a:srgbClr val="FF0000"/>
                </a:solidFill>
              </a:rPr>
              <a:t>-core/</a:t>
            </a:r>
            <a:r>
              <a:rPr lang="en-US" sz="3600" b="1" dirty="0" err="1">
                <a:solidFill>
                  <a:srgbClr val="FF0000"/>
                </a:solidFill>
              </a:rPr>
              <a:t>phyloplace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2A435-9376-B4D6-46EC-234614200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41" y="1270683"/>
            <a:ext cx="10515601" cy="5098585"/>
          </a:xfrm>
          <a:ln w="635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This pipeline performs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phylogenetic placement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by individually mapping query sequences onto a reference tree based on likelihood.</a:t>
            </a:r>
          </a:p>
          <a:p>
            <a:pPr>
              <a:lnSpc>
                <a:spcPct val="17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It avoids reconstructing a full phylogeny, making it ideal for short sequences (e.g., PCR amplicons, metagenomic fragments) </a:t>
            </a:r>
          </a:p>
          <a:p>
            <a:pPr>
              <a:lnSpc>
                <a:spcPct val="17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It is also useful for  large sequence datasets. </a:t>
            </a:r>
          </a:p>
          <a:p>
            <a:pPr>
              <a:lnSpc>
                <a:spcPct val="17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final output includes a complete tree with both reference and query sequences, where queries are inserted at their most likely positions.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B68740-2F1E-EA7D-B3F5-AAD7D98CE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160" y="3719385"/>
            <a:ext cx="1240659" cy="295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282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2B4E-ABFE-72C3-8957-69754854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96003" y="-952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FF0000"/>
                </a:solidFill>
              </a:rPr>
              <a:t>2. Research question &amp; hypothesis 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F3C08C-C596-6D93-9DEB-F25C587F350F}"/>
              </a:ext>
            </a:extLst>
          </p:cNvPr>
          <p:cNvSpPr txBox="1"/>
          <p:nvPr/>
        </p:nvSpPr>
        <p:spPr>
          <a:xfrm>
            <a:off x="173421" y="914410"/>
            <a:ext cx="10815144" cy="5563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Research Question: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How do my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Lactobacillus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query sequences relate phylogenetically to known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Lactobacillus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reference sequence within an established reference tree?</a:t>
            </a:r>
          </a:p>
          <a:p>
            <a:pPr lvl="1">
              <a:lnSpc>
                <a:spcPct val="150000"/>
              </a:lnSpc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(This will let us know whether my query isolates fall within known clades or form distinct lineages when placed on a curated phylogeny.)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Hypothesis 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Genomic analysis of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Lactobacillus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using 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core/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phyloplace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will enable accurate phylogenetic placement and reveal distinct clustering that reflect their evolutionary relationships.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641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BD2787-5527-52C1-A6BB-71A56A5E11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1360" t="-2168" r="47492" b="-661"/>
          <a:stretch>
            <a:fillRect/>
          </a:stretch>
        </p:blipFill>
        <p:spPr>
          <a:xfrm>
            <a:off x="7874162" y="214524"/>
            <a:ext cx="3593755" cy="6643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0C2B67-D324-52CB-BF0A-879C7E8FEE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755" t="-1033" r="16527" b="31167"/>
          <a:stretch>
            <a:fillRect/>
          </a:stretch>
        </p:blipFill>
        <p:spPr>
          <a:xfrm>
            <a:off x="552449" y="1602921"/>
            <a:ext cx="8115301" cy="39813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159A5E-D381-37A6-BD8E-58237E417E05}"/>
              </a:ext>
            </a:extLst>
          </p:cNvPr>
          <p:cNvSpPr txBox="1"/>
          <p:nvPr/>
        </p:nvSpPr>
        <p:spPr>
          <a:xfrm>
            <a:off x="409904" y="419780"/>
            <a:ext cx="6747640" cy="843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3. Analysis and Methods </a:t>
            </a:r>
          </a:p>
        </p:txBody>
      </p:sp>
    </p:spTree>
    <p:extLst>
      <p:ext uri="{BB962C8B-B14F-4D97-AF65-F5344CB8AC3E}">
        <p14:creationId xmlns:p14="http://schemas.microsoft.com/office/powerpoint/2010/main" val="1279798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9269D-1A5C-34C4-D41E-BFB890F6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17" y="56114"/>
            <a:ext cx="10515600" cy="1325563"/>
          </a:xfrm>
        </p:spPr>
        <p:txBody>
          <a:bodyPr/>
          <a:lstStyle/>
          <a:p>
            <a:r>
              <a:rPr lang="en-US" b="1" dirty="0"/>
              <a:t>Step 1: download In-put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9F29E-7DCF-0D26-7D7E-A292FAE4F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296" y="1163462"/>
            <a:ext cx="10854747" cy="2521946"/>
          </a:xfrm>
          <a:ln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Using the command line, downloaded three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FASTA files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(Illumina platform). 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Then created a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.csv file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listing all three FASTA files. </a:t>
            </a:r>
          </a:p>
          <a:p>
            <a:pPr lvl="1">
              <a:lnSpc>
                <a:spcPct val="16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Two 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Lactobacillus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genomes were selected as query sequences</a:t>
            </a:r>
          </a:p>
          <a:p>
            <a:pPr lvl="1">
              <a:lnSpc>
                <a:spcPct val="16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One genome was designated as the reference.</a:t>
            </a:r>
          </a:p>
          <a:p>
            <a:pPr marL="457200" lvl="1" indent="0">
              <a:lnSpc>
                <a:spcPct val="160000"/>
              </a:lnSpc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60000"/>
              </a:lnSpc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6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7B2F3E-EA7B-FF69-EC7C-D7AC4EB13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4238544"/>
            <a:ext cx="11858246" cy="25219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3AE700-6FAF-7ABC-0BBF-4DE6BBFA9366}"/>
              </a:ext>
            </a:extLst>
          </p:cNvPr>
          <p:cNvSpPr txBox="1"/>
          <p:nvPr/>
        </p:nvSpPr>
        <p:spPr>
          <a:xfrm>
            <a:off x="333754" y="3981288"/>
            <a:ext cx="2276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CSV file</a:t>
            </a:r>
          </a:p>
        </p:txBody>
      </p:sp>
    </p:spTree>
    <p:extLst>
      <p:ext uri="{BB962C8B-B14F-4D97-AF65-F5344CB8AC3E}">
        <p14:creationId xmlns:p14="http://schemas.microsoft.com/office/powerpoint/2010/main" val="1913211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829E7D-EAE3-09F2-5B1E-6E91CC8FE8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50" r="31090" b="8366"/>
          <a:stretch>
            <a:fillRect/>
          </a:stretch>
        </p:blipFill>
        <p:spPr>
          <a:xfrm>
            <a:off x="478218" y="1290253"/>
            <a:ext cx="11713782" cy="520262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8A006EB-A544-5EB9-8D10-A594422F6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b="1" dirty="0"/>
              <a:t>2. Pipeline Command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04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1B5462-7D79-B42B-CB68-ACD3D0F7A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42414"/>
              </p:ext>
            </p:extLst>
          </p:nvPr>
        </p:nvGraphicFramePr>
        <p:xfrm>
          <a:off x="228600" y="779748"/>
          <a:ext cx="11736489" cy="58967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572250">
                  <a:extLst>
                    <a:ext uri="{9D8B030D-6E8A-4147-A177-3AD203B41FA5}">
                      <a16:colId xmlns:a16="http://schemas.microsoft.com/office/drawing/2014/main" val="2807556619"/>
                    </a:ext>
                  </a:extLst>
                </a:gridCol>
                <a:gridCol w="5164239">
                  <a:extLst>
                    <a:ext uri="{9D8B030D-6E8A-4147-A177-3AD203B41FA5}">
                      <a16:colId xmlns:a16="http://schemas.microsoft.com/office/drawing/2014/main" val="1924867731"/>
                    </a:ext>
                  </a:extLst>
                </a:gridCol>
              </a:tblGrid>
              <a:tr h="39454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51192" marR="51192" marT="25596" marB="2559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 / Description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938528"/>
                  </a:ext>
                </a:extLst>
              </a:tr>
              <a:tr h="87084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-r 1.0.0</a:t>
                      </a:r>
                    </a:p>
                  </a:txBody>
                  <a:tcPr marL="51192" marR="51192" marT="25596" marB="2559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Specifies version of the </a:t>
                      </a:r>
                      <a:r>
                        <a:rPr lang="en-GB" sz="2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nf</a:t>
                      </a: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-core/</a:t>
                      </a:r>
                      <a:r>
                        <a:rPr lang="en-GB" sz="2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phyloplace</a:t>
                      </a: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pipeline to run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288248"/>
                  </a:ext>
                </a:extLst>
              </a:tr>
              <a:tr h="110176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--id ajy_run1</a:t>
                      </a:r>
                    </a:p>
                  </a:txBody>
                  <a:tcPr marL="51192" marR="51192" marT="25596" marB="2559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Assigns a unique identifier (ajy_run1) to pipeline. Helpful for </a:t>
                      </a:r>
                      <a:r>
                        <a:rPr lang="en-GB" sz="2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labeling</a:t>
                      </a: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outputs / logs.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857619"/>
                  </a:ext>
                </a:extLst>
              </a:tr>
              <a:tr h="1529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</a:t>
                      </a:r>
                      <a:r>
                        <a:rPr lang="en-GB" sz="2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queryseqfile</a:t>
                      </a: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'/path/to/SRR9860122.fasta,/path/to/ERR485020.fasta'</a:t>
                      </a:r>
                    </a:p>
                  </a:txBody>
                  <a:tcPr marL="51192" marR="51192" marT="25596" marB="2559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Query sequences file(s). FASTA files separated by a comma inside one string.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76147"/>
                  </a:ext>
                </a:extLst>
              </a:tr>
              <a:tr h="18416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----</a:t>
                      </a:r>
                      <a:r>
                        <a:rPr lang="en-GB" sz="2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refseqfile</a:t>
                      </a: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'/path/to/PROKKA_06042025_aligned.fna'</a:t>
                      </a:r>
                    </a:p>
                  </a:txBody>
                  <a:tcPr marL="51192" marR="51192" marT="25596" marB="2559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 file, a MSA of known </a:t>
                      </a:r>
                      <a:r>
                        <a:rPr lang="en-GB" sz="21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Lactobacillus.Query</a:t>
                      </a:r>
                      <a:r>
                        <a:rPr lang="en-GB" sz="2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sequences will be compared/placed against this reference.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1214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C7016E-040F-83FA-77E7-9B148BDAA1BD}"/>
              </a:ext>
            </a:extLst>
          </p:cNvPr>
          <p:cNvSpPr txBox="1"/>
          <p:nvPr/>
        </p:nvSpPr>
        <p:spPr>
          <a:xfrm>
            <a:off x="0" y="103415"/>
            <a:ext cx="6098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200" b="1" dirty="0">
                <a:latin typeface="+mj-lt"/>
              </a:rPr>
              <a:t>I</a:t>
            </a:r>
            <a:r>
              <a:rPr lang="en-GB" sz="3200" b="1" i="0" dirty="0">
                <a:effectLst/>
                <a:latin typeface="+mj-lt"/>
              </a:rPr>
              <a:t>nput Parameters</a:t>
            </a:r>
          </a:p>
        </p:txBody>
      </p:sp>
    </p:spTree>
    <p:extLst>
      <p:ext uri="{BB962C8B-B14F-4D97-AF65-F5344CB8AC3E}">
        <p14:creationId xmlns:p14="http://schemas.microsoft.com/office/powerpoint/2010/main" val="323282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915445-442D-F71A-3390-BABFA3B9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054216"/>
              </p:ext>
            </p:extLst>
          </p:nvPr>
        </p:nvGraphicFramePr>
        <p:xfrm>
          <a:off x="239300" y="353780"/>
          <a:ext cx="11648090" cy="5974094"/>
        </p:xfrm>
        <a:graphic>
          <a:graphicData uri="http://schemas.openxmlformats.org/drawingml/2006/table">
            <a:tbl>
              <a:tblPr/>
              <a:tblGrid>
                <a:gridCol w="3830085">
                  <a:extLst>
                    <a:ext uri="{9D8B030D-6E8A-4147-A177-3AD203B41FA5}">
                      <a16:colId xmlns:a16="http://schemas.microsoft.com/office/drawing/2014/main" val="3788872237"/>
                    </a:ext>
                  </a:extLst>
                </a:gridCol>
                <a:gridCol w="7818005">
                  <a:extLst>
                    <a:ext uri="{9D8B030D-6E8A-4147-A177-3AD203B41FA5}">
                      <a16:colId xmlns:a16="http://schemas.microsoft.com/office/drawing/2014/main" val="2235782169"/>
                    </a:ext>
                  </a:extLst>
                </a:gridCol>
              </a:tblGrid>
              <a:tr h="8093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refphylogeny</a:t>
                      </a: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'/path/to/tree'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 phylogeny tree file. 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this tree to place query into phylogenetic context.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065913"/>
                  </a:ext>
                </a:extLst>
              </a:tr>
              <a:tr h="64972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--model 'LG+F+R6'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specifies the evolutionary model for sequence analysis.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pipeline will use this model during phylogenetic placement.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096214"/>
                  </a:ext>
                </a:extLst>
              </a:tr>
              <a:tr h="796991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--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outdir</a:t>
                      </a: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'/path/to/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phyloplace_results</a:t>
                      </a: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sets the directory where all results, logs will be saved.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47261"/>
                  </a:ext>
                </a:extLst>
              </a:tr>
              <a:tr h="8277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-profile docker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tells 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Nextflow</a:t>
                      </a: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use Docker containers to run the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738657"/>
                  </a:ext>
                </a:extLst>
              </a:tr>
              <a:tr h="17796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-c 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memory_override.config</a:t>
                      </a:r>
                      <a:endParaRPr lang="en-GB" sz="2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loads a custom 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Nextflow</a:t>
                      </a: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config file named </a:t>
                      </a:r>
                      <a:r>
                        <a:rPr lang="en-GB" sz="22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memory_override.config</a:t>
                      </a: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2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usually used to override default resource settings like memory, CPU, or runtime for certain steps.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2086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82BD054-499D-864E-2B4F-1F8D887E8D8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38200" y="1852612"/>
            <a:ext cx="123169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52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9918-146F-07D4-33F7-282D0D2CB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33135B-598A-741B-E9A3-B09372270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GB" sz="4200" b="1" dirty="0">
                <a:solidFill>
                  <a:srgbClr val="FF0000"/>
                </a:solidFill>
                <a:cs typeface="Arial" panose="020B0604020202020204" pitchFamily="34" charset="0"/>
              </a:rPr>
              <a:t>4. Results and</a:t>
            </a:r>
            <a:br>
              <a:rPr lang="en-GB" sz="4200" b="1" dirty="0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GB" sz="4200" b="1" dirty="0">
                <a:solidFill>
                  <a:srgbClr val="FF0000"/>
                </a:solidFill>
                <a:cs typeface="Arial" panose="020B0604020202020204" pitchFamily="34" charset="0"/>
              </a:rPr>
              <a:t> Visualizations </a:t>
            </a:r>
            <a:br>
              <a:rPr lang="en-GB" sz="4200" b="1" dirty="0">
                <a:solidFill>
                  <a:srgbClr val="FF0000"/>
                </a:solidFill>
                <a:cs typeface="Arial" panose="020B0604020202020204" pitchFamily="34" charset="0"/>
              </a:rPr>
            </a:br>
            <a:endParaRPr lang="en-US" sz="4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765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6B30-1AE4-5235-B6E4-1A029E9AF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0447-2685-33C4-E6D6-6EA1DBA61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59FBF-CEA6-632A-65FC-889957158D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712" r="36648" b="50500"/>
          <a:stretch>
            <a:fillRect/>
          </a:stretch>
        </p:blipFill>
        <p:spPr>
          <a:xfrm>
            <a:off x="952308" y="193348"/>
            <a:ext cx="10330732" cy="25086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CC40ED-536A-F9A0-7BD9-3648D71F8A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267" r="36648" b="2189"/>
          <a:stretch>
            <a:fillRect/>
          </a:stretch>
        </p:blipFill>
        <p:spPr>
          <a:xfrm>
            <a:off x="952307" y="2073729"/>
            <a:ext cx="10330732" cy="475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641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A264-400E-D947-61A4-51973F17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7EDC4-4CA2-3D32-BBF2-2B826A686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0E8A7E-3464-2466-1D0C-12BA3EB0B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45547"/>
            <a:ext cx="11032830" cy="677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08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EB3F-634F-5AF8-339E-6E1C08C97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A4582-DB63-D6AA-4F3F-1A18F413D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75122-6F8F-3B66-2B7D-A1A2C617F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245192"/>
            <a:ext cx="11353800" cy="638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26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1014-58A7-24E4-8B94-7923991F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E8A6B-82C1-A6E4-80F1-26960374D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2C1B0D-ABF8-EB1E-F005-627486646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62651"/>
            <a:ext cx="11718210" cy="638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62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57C4-567A-480F-63C1-0A819E576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92951-8246-77DA-0306-D4444B03D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C6356-0FBC-DFFE-2380-54D8D41514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94"/>
          <a:stretch>
            <a:fillRect/>
          </a:stretch>
        </p:blipFill>
        <p:spPr>
          <a:xfrm>
            <a:off x="96645" y="1690688"/>
            <a:ext cx="12085595" cy="325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4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8A314-F733-B704-B296-E3EB75F1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B0AB3-E7F3-A81B-9397-8E2729DE7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The tools were successfully executed: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FASTQC, PROKKA and BLAST+ </a:t>
            </a:r>
            <a:endParaRPr lang="en-US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804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E0028-03FB-E959-32A4-CD29E3C7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545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Quality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3B9C9C-BB24-742C-E32D-80F6315611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915" t="3649" r="46517" b="-3649"/>
          <a:stretch>
            <a:fillRect/>
          </a:stretch>
        </p:blipFill>
        <p:spPr>
          <a:xfrm>
            <a:off x="5097236" y="365125"/>
            <a:ext cx="6678385" cy="6264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BA926C-E426-3C13-EE9C-3DE6A319713C}"/>
              </a:ext>
            </a:extLst>
          </p:cNvPr>
          <p:cNvSpPr txBox="1"/>
          <p:nvPr/>
        </p:nvSpPr>
        <p:spPr>
          <a:xfrm>
            <a:off x="342901" y="2967335"/>
            <a:ext cx="41637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open 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</a:t>
            </a:r>
            <a:r>
              <a:rPr lang="en-US" dirty="0" err="1"/>
              <a:t>fastq</a:t>
            </a:r>
            <a:r>
              <a:rPr lang="en-US" dirty="0"/>
              <a:t>/SRR10240887_fastqc.html</a:t>
            </a:r>
          </a:p>
        </p:txBody>
      </p:sp>
    </p:spTree>
    <p:extLst>
      <p:ext uri="{BB962C8B-B14F-4D97-AF65-F5344CB8AC3E}">
        <p14:creationId xmlns:p14="http://schemas.microsoft.com/office/powerpoint/2010/main" val="553305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9979F-E40C-13E3-F9D8-057A9306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38665-8F16-896C-6405-B5C8F9E12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150" y="228597"/>
            <a:ext cx="7704367" cy="60270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236F84-0EF8-0492-B30C-2AE785A13EA4}"/>
              </a:ext>
            </a:extLst>
          </p:cNvPr>
          <p:cNvSpPr txBox="1"/>
          <p:nvPr/>
        </p:nvSpPr>
        <p:spPr>
          <a:xfrm>
            <a:off x="31281" y="3650353"/>
            <a:ext cx="4299867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prokka</a:t>
            </a:r>
            <a:r>
              <a:rPr lang="en-US" dirty="0"/>
              <a:t> --</a:t>
            </a:r>
            <a:r>
              <a:rPr lang="en-US" dirty="0" err="1"/>
              <a:t>outdir</a:t>
            </a:r>
            <a:r>
              <a:rPr lang="en-US" dirty="0"/>
              <a:t> PROKKA_run2 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</a:t>
            </a:r>
            <a:r>
              <a:rPr lang="en-US" dirty="0" err="1"/>
              <a:t>fastq</a:t>
            </a:r>
            <a:r>
              <a:rPr lang="en-US" dirty="0"/>
              <a:t>/SRR9860122_unique.fasta</a:t>
            </a:r>
          </a:p>
          <a:p>
            <a:pPr>
              <a:lnSpc>
                <a:spcPct val="150000"/>
              </a:lnSpc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80BFA4-B550-98E7-6328-EB7F9EF9F61A}"/>
              </a:ext>
            </a:extLst>
          </p:cNvPr>
          <p:cNvSpPr txBox="1"/>
          <p:nvPr/>
        </p:nvSpPr>
        <p:spPr>
          <a:xfrm>
            <a:off x="277584" y="602324"/>
            <a:ext cx="40535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j-lt"/>
              </a:rPr>
              <a:t>Genome Annotation using PROKKA</a:t>
            </a:r>
          </a:p>
        </p:txBody>
      </p:sp>
    </p:spTree>
    <p:extLst>
      <p:ext uri="{BB962C8B-B14F-4D97-AF65-F5344CB8AC3E}">
        <p14:creationId xmlns:p14="http://schemas.microsoft.com/office/powerpoint/2010/main" val="3363955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07E5-644D-047B-CA37-84A3C0CE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62" y="231775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Sequence Type Identification from BLAST+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DFD82-6085-8FD2-BD0E-F54B0C5B4A67}"/>
              </a:ext>
            </a:extLst>
          </p:cNvPr>
          <p:cNvSpPr txBox="1"/>
          <p:nvPr/>
        </p:nvSpPr>
        <p:spPr>
          <a:xfrm>
            <a:off x="94162" y="2983413"/>
            <a:ext cx="55065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blastn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-query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fasta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/SRR9860122.fasta 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16S_ribosomal_RNA -out seqtype_SRR9860122.txt 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outfmt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"6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qseqid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sseqid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pident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length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evalue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bitscore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stitle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" 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max_target_seqs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5 -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num_threads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5EB520-847D-71F2-0AAF-BCD3BF8312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650"/>
          <a:stretch>
            <a:fillRect/>
          </a:stretch>
        </p:blipFill>
        <p:spPr>
          <a:xfrm>
            <a:off x="5638800" y="1557338"/>
            <a:ext cx="6459038" cy="477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26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C32F8F-E8A3-1E25-D4AF-0C9691754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507052"/>
              </p:ext>
            </p:extLst>
          </p:nvPr>
        </p:nvGraphicFramePr>
        <p:xfrm>
          <a:off x="457200" y="1969532"/>
          <a:ext cx="10801350" cy="4070828"/>
        </p:xfrm>
        <a:graphic>
          <a:graphicData uri="http://schemas.openxmlformats.org/drawingml/2006/table">
            <a:tbl>
              <a:tblPr/>
              <a:tblGrid>
                <a:gridCol w="3600450">
                  <a:extLst>
                    <a:ext uri="{9D8B030D-6E8A-4147-A177-3AD203B41FA5}">
                      <a16:colId xmlns:a16="http://schemas.microsoft.com/office/drawing/2014/main" val="670593808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3429650360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4242315040"/>
                    </a:ext>
                  </a:extLst>
                </a:gridCol>
              </a:tblGrid>
              <a:tr h="1017707">
                <a:tc>
                  <a:txBody>
                    <a:bodyPr/>
                    <a:lstStyle/>
                    <a:p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Genome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Species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Sequence Type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908692"/>
                  </a:ext>
                </a:extLst>
              </a:tr>
              <a:tr h="1017707">
                <a:tc>
                  <a:txBody>
                    <a:bodyPr/>
                    <a:lstStyle/>
                    <a:p>
                      <a:r>
                        <a:rPr lang="en-GB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ERR485020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Lactobacillus </a:t>
                      </a:r>
                      <a:r>
                        <a:rPr lang="en-GB" sz="24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crispatus</a:t>
                      </a:r>
                      <a:endParaRPr lang="en-GB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16S rRNA gene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671392"/>
                  </a:ext>
                </a:extLst>
              </a:tr>
              <a:tr h="1017707">
                <a:tc>
                  <a:txBody>
                    <a:bodyPr/>
                    <a:lstStyle/>
                    <a:p>
                      <a:r>
                        <a:rPr lang="en-GB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SRR9860122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i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Lactobacillus xujianguonis</a:t>
                      </a:r>
                      <a:endParaRPr lang="en-GB" sz="24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16S rRNA gene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305063"/>
                  </a:ext>
                </a:extLst>
              </a:tr>
              <a:tr h="1017707">
                <a:tc>
                  <a:txBody>
                    <a:bodyPr/>
                    <a:lstStyle/>
                    <a:p>
                      <a:r>
                        <a:rPr lang="en-GB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SRR10240887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Lactobacillus </a:t>
                      </a:r>
                      <a:r>
                        <a:rPr lang="en-GB" sz="24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xujianguonis</a:t>
                      </a:r>
                      <a:endParaRPr lang="en-GB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16S rRNA gene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596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B28258A-0D75-90C5-14F4-244FAB3448B1}"/>
              </a:ext>
            </a:extLst>
          </p:cNvPr>
          <p:cNvSpPr txBox="1"/>
          <p:nvPr/>
        </p:nvSpPr>
        <p:spPr>
          <a:xfrm>
            <a:off x="457200" y="817640"/>
            <a:ext cx="8286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Summary Sequence Type BLAST+</a:t>
            </a:r>
          </a:p>
        </p:txBody>
      </p:sp>
    </p:spTree>
    <p:extLst>
      <p:ext uri="{BB962C8B-B14F-4D97-AF65-F5344CB8AC3E}">
        <p14:creationId xmlns:p14="http://schemas.microsoft.com/office/powerpoint/2010/main" val="3483263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4325A-3291-B373-0550-50CC8AF51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BEAST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2056E-47D1-3AAB-AAC3-0FDBC34EE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EFFAB6-8E1D-1F35-0C54-4C85E83ED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1027906"/>
            <a:ext cx="7772400" cy="511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54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854CA6-4065-8E4F-DD54-A165E93725FC}"/>
              </a:ext>
            </a:extLst>
          </p:cNvPr>
          <p:cNvSpPr txBox="1"/>
          <p:nvPr/>
        </p:nvSpPr>
        <p:spPr>
          <a:xfrm>
            <a:off x="187778" y="1459855"/>
            <a:ext cx="11816444" cy="5148332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This study attempted to run the 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-core/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phyloplace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pipeline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for phylogenetic placement but faced technical difficulties that prevented successful execution. 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However,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genome annotation, sequence quality assessment and sequence typing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were completed successfully using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PROKKA, 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FastQC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and BLAST+ tools.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6900" indent="-342900">
              <a:buFont typeface="Wingdings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project also established a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remote GitHub repository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where codes and files were deposited to track the progress of the bioinformatics research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606DA-4603-3E82-3991-7EBD00BB4EC2}"/>
              </a:ext>
            </a:extLst>
          </p:cNvPr>
          <p:cNvSpPr txBox="1"/>
          <p:nvPr/>
        </p:nvSpPr>
        <p:spPr>
          <a:xfrm>
            <a:off x="187778" y="6344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462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566B8-5587-CDE7-74FE-98C1DDDD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82" y="213308"/>
            <a:ext cx="10515600" cy="1325563"/>
          </a:xfrm>
        </p:spPr>
        <p:txBody>
          <a:bodyPr/>
          <a:lstStyle/>
          <a:p>
            <a:r>
              <a:rPr lang="en-GB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Directions</a:t>
            </a:r>
            <a:br>
              <a:rPr lang="en-GB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7D1F0-8D34-8213-4BC5-CA2BA0358395}"/>
              </a:ext>
            </a:extLst>
          </p:cNvPr>
          <p:cNvSpPr txBox="1"/>
          <p:nvPr/>
        </p:nvSpPr>
        <p:spPr>
          <a:xfrm>
            <a:off x="194582" y="1023711"/>
            <a:ext cx="11802836" cy="5563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Re-retry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running the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-core/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phyloplace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pipeline with corrected commands, following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-core guidelines precisely.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Optimize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-core/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phyloplace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workflow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by properly configuring the environment, verifying input file compatibility, and using cloud computing if local resources are limited.</a:t>
            </a:r>
          </a:p>
          <a:p>
            <a:pPr marL="342900" indent="-342900">
              <a:buFont typeface="Wingdings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Test other phylogenetic pipelines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, such as 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BEAST,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PhyloPhlAn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and IQ-TREE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Conduct further bioinformatic analysis, including antimicrobial resistance screening, to deepen genomic insights.</a:t>
            </a:r>
          </a:p>
        </p:txBody>
      </p:sp>
    </p:spTree>
    <p:extLst>
      <p:ext uri="{BB962C8B-B14F-4D97-AF65-F5344CB8AC3E}">
        <p14:creationId xmlns:p14="http://schemas.microsoft.com/office/powerpoint/2010/main" val="3562753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D2FDA0-2F2A-DEBA-AE09-7D207857C5B7}"/>
              </a:ext>
            </a:extLst>
          </p:cNvPr>
          <p:cNvSpPr txBox="1"/>
          <p:nvPr/>
        </p:nvSpPr>
        <p:spPr>
          <a:xfrm>
            <a:off x="285750" y="1260355"/>
            <a:ext cx="11805558" cy="5277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Pipeline Execution:</a:t>
            </a:r>
            <a:b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	The 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-core/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phyloplace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pipeline failed to run successfully, restricting 	phylogenetic analysis and  interpretation of evolutionary relationships.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Sample Size:</a:t>
            </a:r>
            <a:b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	Because of possible space and memory constraints on laptop, only 3 samples were 	</a:t>
            </a:r>
            <a:r>
              <a:rPr lang="en-GB" sz="2200" dirty="0" err="1">
                <a:latin typeface="Arial" panose="020B0604020202020204" pitchFamily="34" charset="0"/>
                <a:cs typeface="Arial" panose="020B0604020202020204" pitchFamily="34" charset="0"/>
              </a:rPr>
              <a:t>analyzed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, limiting statistical reliability and generalizability of phylogenetic conclusions.</a:t>
            </a:r>
          </a:p>
          <a:p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Lack of Published Validation:</a:t>
            </a:r>
            <a:b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	No peer-reviewed studies were found using the </a:t>
            </a:r>
            <a:r>
              <a:rPr lang="en-GB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-core/</a:t>
            </a:r>
            <a:r>
              <a:rPr lang="en-GB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phyloplace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 pipeline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, 	limiting confidence in its validation and scientific applicability.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0FA863-DD6D-3C2C-996F-B403549B2440}"/>
              </a:ext>
            </a:extLst>
          </p:cNvPr>
          <p:cNvSpPr txBox="1"/>
          <p:nvPr/>
        </p:nvSpPr>
        <p:spPr>
          <a:xfrm>
            <a:off x="337459" y="136513"/>
            <a:ext cx="6098720" cy="901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 and Caveats</a:t>
            </a:r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541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680D7-DABC-F4FB-06A3-82CD1E80A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05578-1E43-54B3-BD18-7F0C48B4E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25563"/>
            <a:ext cx="11449050" cy="5167311"/>
          </a:xfrm>
          <a:ln>
            <a:solidFill>
              <a:schemeClr val="tx1"/>
            </a:solidFill>
          </a:ln>
        </p:spPr>
        <p:txBody>
          <a:bodyPr>
            <a:normAutofit fontScale="32500" lnSpcReduction="20000"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6800" dirty="0" err="1">
                <a:latin typeface="Arial" panose="020B0604020202020204" pitchFamily="34" charset="0"/>
                <a:cs typeface="Arial" panose="020B0604020202020204" pitchFamily="34" charset="0"/>
              </a:rPr>
              <a:t>Ewels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 PA, Peltzer A, Fillinger S, Patel H, </a:t>
            </a:r>
            <a:r>
              <a:rPr lang="en-GB" sz="6800" dirty="0" err="1">
                <a:latin typeface="Arial" panose="020B0604020202020204" pitchFamily="34" charset="0"/>
                <a:cs typeface="Arial" panose="020B0604020202020204" pitchFamily="34" charset="0"/>
              </a:rPr>
              <a:t>Alneberg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 J, Wilm A, Garcia MU, Di Tommaso P, </a:t>
            </a:r>
            <a:r>
              <a:rPr lang="en-GB" sz="6800" dirty="0" err="1">
                <a:latin typeface="Arial" panose="020B0604020202020204" pitchFamily="34" charset="0"/>
                <a:cs typeface="Arial" panose="020B0604020202020204" pitchFamily="34" charset="0"/>
              </a:rPr>
              <a:t>Nahnsen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GB" sz="6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6800" b="1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sz="6800" b="1" dirty="0">
                <a:latin typeface="Arial" panose="020B0604020202020204" pitchFamily="34" charset="0"/>
                <a:cs typeface="Arial" panose="020B0604020202020204" pitchFamily="34" charset="0"/>
              </a:rPr>
              <a:t>-core framework for community-curated bioinformatics pipelines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6800" i="1" dirty="0">
                <a:latin typeface="Arial" panose="020B0604020202020204" pitchFamily="34" charset="0"/>
                <a:cs typeface="Arial" panose="020B0604020202020204" pitchFamily="34" charset="0"/>
              </a:rPr>
              <a:t>Nat </a:t>
            </a:r>
            <a:r>
              <a:rPr lang="en-GB" sz="6800" i="1" dirty="0" err="1">
                <a:latin typeface="Arial" panose="020B0604020202020204" pitchFamily="34" charset="0"/>
                <a:cs typeface="Arial" panose="020B0604020202020204" pitchFamily="34" charset="0"/>
              </a:rPr>
              <a:t>Biotechnol</a:t>
            </a:r>
            <a:r>
              <a:rPr lang="en-GB" sz="6800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2020 Mar;38(3):276-278.</a:t>
            </a: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endParaRPr lang="en-GB" sz="6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6800" u="sng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 https://github.com/nf-core/phyloplace</a:t>
            </a:r>
            <a:endParaRPr lang="en-GB" sz="6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6950" indent="-742950">
              <a:lnSpc>
                <a:spcPct val="120000"/>
              </a:lnSpc>
              <a:buFont typeface="+mj-lt"/>
              <a:buAutoNum type="arabicPeriod"/>
            </a:pPr>
            <a:endParaRPr lang="en-GB" sz="6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https://github.com/uleth-advanced-bioinformatics/BCHM5420A-summer-2025</a:t>
            </a:r>
            <a:endParaRPr lang="en-GB" sz="6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>
              <a:lnSpc>
                <a:spcPct val="120000"/>
              </a:lnSpc>
              <a:buFont typeface="+mj-lt"/>
              <a:buAutoNum type="arabicPeriod"/>
            </a:pPr>
            <a:endParaRPr lang="en-GB" sz="6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Petit RA 3rd, Read TD. </a:t>
            </a:r>
            <a:r>
              <a:rPr lang="en-GB" sz="6800" b="1" dirty="0" err="1">
                <a:latin typeface="Arial" panose="020B0604020202020204" pitchFamily="34" charset="0"/>
                <a:cs typeface="Arial" panose="020B0604020202020204" pitchFamily="34" charset="0"/>
              </a:rPr>
              <a:t>Bactopia</a:t>
            </a:r>
            <a:r>
              <a:rPr lang="en-GB" sz="6800" b="1" dirty="0">
                <a:latin typeface="Arial" panose="020B0604020202020204" pitchFamily="34" charset="0"/>
                <a:cs typeface="Arial" panose="020B0604020202020204" pitchFamily="34" charset="0"/>
              </a:rPr>
              <a:t>: a Flexible Pipeline for Complete Analysis of Bacterial Genomes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6800" i="1" dirty="0" err="1">
                <a:latin typeface="Arial" panose="020B0604020202020204" pitchFamily="34" charset="0"/>
                <a:cs typeface="Arial" panose="020B0604020202020204" pitchFamily="34" charset="0"/>
              </a:rPr>
              <a:t>mSystems</a:t>
            </a:r>
            <a:r>
              <a:rPr lang="en-GB" sz="6800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6800" dirty="0">
                <a:latin typeface="Arial" panose="020B0604020202020204" pitchFamily="34" charset="0"/>
                <a:cs typeface="Arial" panose="020B0604020202020204" pitchFamily="34" charset="0"/>
              </a:rPr>
              <a:t>2020 Aug 4;5(4):e00190-20. </a:t>
            </a:r>
          </a:p>
          <a:p>
            <a:pPr marL="0" indent="0">
              <a:lnSpc>
                <a:spcPct val="150000"/>
              </a:lnSpc>
              <a:buNone/>
            </a:pPr>
            <a:endParaRPr lang="en-GB" sz="6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244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1F4B-A61A-F4FF-BBE9-F44BE2D48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51A5A-1425-C91F-6F33-19FC970A0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en-GB" sz="4000" b="1" dirty="0">
                <a:solidFill>
                  <a:srgbClr val="FF0000"/>
                </a:solidFill>
                <a:latin typeface="+mj-lt"/>
              </a:rPr>
              <a:t>Thank You</a:t>
            </a:r>
            <a:r>
              <a:rPr lang="en-GB" sz="4000" dirty="0">
                <a:solidFill>
                  <a:srgbClr val="FF0000"/>
                </a:solidFill>
                <a:latin typeface="+mj-lt"/>
              </a:rPr>
              <a:t>.   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GB" sz="4000" b="1" dirty="0">
                <a:solidFill>
                  <a:srgbClr val="FF0000"/>
                </a:solidFill>
                <a:latin typeface="+mj-lt"/>
              </a:rPr>
              <a:t>Questions?</a:t>
            </a:r>
            <a:endParaRPr lang="en-GB" sz="4000" dirty="0">
              <a:solidFill>
                <a:srgbClr val="FF0000"/>
              </a:solidFill>
              <a:latin typeface="+mj-lt"/>
            </a:endParaRPr>
          </a:p>
          <a:p>
            <a:pPr marL="0" indent="0" algn="ctr">
              <a:lnSpc>
                <a:spcPct val="250000"/>
              </a:lnSpc>
              <a:buNone/>
            </a:pPr>
            <a:endParaRPr lang="en-US" sz="40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76319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F32E-5B45-E4F8-7EAE-A9F8190F8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C9772-1FE3-BE9E-E12A-443A257037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825" r="33503"/>
          <a:stretch>
            <a:fillRect/>
          </a:stretch>
        </p:blipFill>
        <p:spPr>
          <a:xfrm>
            <a:off x="409903" y="1027906"/>
            <a:ext cx="11138279" cy="437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62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98F29-0E63-A9AF-F630-E3FD7C63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F429C-4BA7-A306-2A78-36DCBEA99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Discussion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2283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68D15-BF6F-588D-4C02-4D0A4F51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FD1E0-06A6-986D-2F39-1E144A13C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 conclusion, 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This study presented the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nf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-core/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phylo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pipeline for generating phylogenetic tree of Lactobacillus whole genome data produced by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illumina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technologies. </a:t>
            </a: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Despite some errors  encountered, the pipeline may have best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practicr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analysis for phylogenesis. </a:t>
            </a:r>
          </a:p>
        </p:txBody>
      </p:sp>
    </p:spTree>
    <p:extLst>
      <p:ext uri="{BB962C8B-B14F-4D97-AF65-F5344CB8AC3E}">
        <p14:creationId xmlns:p14="http://schemas.microsoft.com/office/powerpoint/2010/main" val="24653618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0D544-C04F-4C38-47EA-FA361457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996C8-F10B-8506-1B9E-010805A94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365125"/>
            <a:ext cx="11638845" cy="6127750"/>
          </a:xfrm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sz="1800" b="1" dirty="0" err="1"/>
              <a:t>nextflow</a:t>
            </a:r>
            <a:r>
              <a:rPr lang="en-GB" sz="1800" b="1" dirty="0"/>
              <a:t> run </a:t>
            </a:r>
            <a:r>
              <a:rPr lang="en-GB" sz="1800" b="1" dirty="0" err="1"/>
              <a:t>nf</a:t>
            </a:r>
            <a:r>
              <a:rPr lang="en-GB" sz="1800" b="1" dirty="0"/>
              <a:t>-core/</a:t>
            </a:r>
            <a:r>
              <a:rPr lang="en-GB" sz="1800" b="1" dirty="0" err="1"/>
              <a:t>phyloplace</a:t>
            </a:r>
            <a:r>
              <a:rPr lang="en-GB" sz="1800" b="1" dirty="0"/>
              <a:t> -r 1.0.0</a:t>
            </a:r>
          </a:p>
          <a:p>
            <a:pPr marL="0" indent="0">
              <a:buNone/>
            </a:pPr>
            <a:endParaRPr lang="en-GB" sz="1800" dirty="0"/>
          </a:p>
          <a:p>
            <a:pPr marL="514350" indent="-514350">
              <a:buAutoNum type="arabicPeriod"/>
            </a:pPr>
            <a:r>
              <a:rPr lang="en-GB" sz="1800" b="1" dirty="0"/>
              <a:t>-id ajy_run1</a:t>
            </a:r>
          </a:p>
          <a:p>
            <a:pPr marL="0" indent="0">
              <a:buNone/>
            </a:pPr>
            <a:r>
              <a:rPr lang="en-GB" sz="1800" dirty="0"/>
              <a:t>Assigns an </a:t>
            </a:r>
            <a:r>
              <a:rPr lang="en-GB" sz="1800" b="1" dirty="0"/>
              <a:t>ID/name</a:t>
            </a:r>
            <a:r>
              <a:rPr lang="en-GB" sz="1800" dirty="0"/>
              <a:t> to my run. Useful to identify outputs and logs related to this particular execution.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b="1" dirty="0"/>
              <a:t>3.--</a:t>
            </a:r>
            <a:r>
              <a:rPr lang="en-GB" sz="1800" b="1" dirty="0" err="1"/>
              <a:t>queryseqfile</a:t>
            </a:r>
            <a:r>
              <a:rPr lang="en-GB" sz="1800" b="1" dirty="0"/>
              <a:t> '/path/to/SRR9860122.fasta,/path/to/ERR485020.fasta'</a:t>
            </a:r>
          </a:p>
          <a:p>
            <a:pPr marL="0" indent="0">
              <a:buNone/>
            </a:pPr>
            <a:r>
              <a:rPr lang="en-GB" sz="1800" dirty="0"/>
              <a:t>This is my </a:t>
            </a:r>
            <a:r>
              <a:rPr lang="en-GB" sz="1800" b="1" dirty="0"/>
              <a:t>query sequences file(s)</a:t>
            </a:r>
            <a:r>
              <a:rPr lang="en-GB" sz="1800" dirty="0"/>
              <a:t>.</a:t>
            </a:r>
          </a:p>
          <a:p>
            <a:r>
              <a:rPr lang="en-GB" sz="1800" dirty="0"/>
              <a:t>I gave two FASTA files separated by a comma inside one string.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b="1" dirty="0"/>
              <a:t>4. --</a:t>
            </a:r>
            <a:r>
              <a:rPr lang="en-GB" sz="1800" b="1" dirty="0" err="1"/>
              <a:t>refseqfile</a:t>
            </a:r>
            <a:r>
              <a:rPr lang="en-GB" sz="1800" b="1" dirty="0"/>
              <a:t> '/path/to/PROKKA_06042025_aligned.fna'</a:t>
            </a:r>
          </a:p>
          <a:p>
            <a:r>
              <a:rPr lang="en-GB" sz="1800" dirty="0"/>
              <a:t>This is the </a:t>
            </a:r>
            <a:r>
              <a:rPr lang="en-GB" sz="1800" b="1" dirty="0"/>
              <a:t>reference sequence file</a:t>
            </a:r>
            <a:r>
              <a:rPr lang="en-GB" sz="1800" dirty="0"/>
              <a:t>, a multiple sequence alignment (MSA) of known lactobacillus sequences.</a:t>
            </a:r>
          </a:p>
          <a:p>
            <a:r>
              <a:rPr lang="en-GB" sz="1800" dirty="0"/>
              <a:t>query sequences will be compared/placed against this reference.</a:t>
            </a:r>
          </a:p>
          <a:p>
            <a:endParaRPr lang="en-GB" sz="1800" dirty="0"/>
          </a:p>
          <a:p>
            <a:pPr marL="0" indent="0">
              <a:buNone/>
            </a:pPr>
            <a:r>
              <a:rPr lang="en-GB" sz="1800" b="1" dirty="0"/>
              <a:t>5. --</a:t>
            </a:r>
            <a:r>
              <a:rPr lang="en-GB" sz="1800" b="1" dirty="0" err="1"/>
              <a:t>refphylogeny</a:t>
            </a:r>
            <a:r>
              <a:rPr lang="en-GB" sz="1800" b="1" dirty="0"/>
              <a:t> '/path/to/</a:t>
            </a:r>
            <a:r>
              <a:rPr lang="en-GB" sz="1800" b="1" dirty="0" err="1"/>
              <a:t>ref_aligned.fasta</a:t>
            </a:r>
            <a:r>
              <a:rPr lang="en-GB" sz="1800" b="1" dirty="0"/>
              <a:t>’</a:t>
            </a:r>
            <a:endParaRPr lang="en-GB" sz="1800" dirty="0"/>
          </a:p>
          <a:p>
            <a:r>
              <a:rPr lang="en-GB" sz="1800" dirty="0"/>
              <a:t>This is the </a:t>
            </a:r>
            <a:r>
              <a:rPr lang="en-GB" sz="1800" b="1" dirty="0"/>
              <a:t>reference phylogeny tree</a:t>
            </a:r>
            <a:r>
              <a:rPr lang="en-GB" sz="1800" dirty="0"/>
              <a:t> file.</a:t>
            </a:r>
          </a:p>
          <a:p>
            <a:r>
              <a:rPr lang="en-GB" sz="1800" dirty="0"/>
              <a:t>The pipeline will use this tree to place your query sequences into the phylogenetic context.</a:t>
            </a:r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514350" indent="-514350"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812969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3781EA-BBB2-7709-E67D-0903C04B2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622" y="1411111"/>
            <a:ext cx="9979378" cy="1862667"/>
          </a:xfrm>
        </p:spPr>
        <p:txBody>
          <a:bodyPr>
            <a:normAutofit fontScale="47500" lnSpcReduction="20000"/>
          </a:bodyPr>
          <a:lstStyle/>
          <a:p>
            <a:r>
              <a:rPr lang="en-US" dirty="0" err="1"/>
              <a:t>nextflow</a:t>
            </a:r>
            <a:r>
              <a:rPr lang="en-US" dirty="0"/>
              <a:t> run </a:t>
            </a:r>
            <a:r>
              <a:rPr lang="en-US" dirty="0" err="1"/>
              <a:t>nf</a:t>
            </a:r>
            <a:r>
              <a:rPr lang="en-US" dirty="0"/>
              <a:t>-core/</a:t>
            </a:r>
            <a:r>
              <a:rPr lang="en-US" dirty="0" err="1"/>
              <a:t>phyloplace</a:t>
            </a:r>
            <a:r>
              <a:rPr lang="en-US" dirty="0"/>
              <a:t> -r 1.0.0 \  --id ajy_run1 \  </a:t>
            </a:r>
          </a:p>
          <a:p>
            <a:r>
              <a:rPr lang="en-US" dirty="0"/>
              <a:t>--</a:t>
            </a:r>
            <a:r>
              <a:rPr lang="en-US" dirty="0" err="1"/>
              <a:t>queryseqfile</a:t>
            </a:r>
            <a:r>
              <a:rPr lang="en-US" dirty="0"/>
              <a:t> '/Users/ajy_25yahoo.com/Desktop/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</a:t>
            </a:r>
            <a:r>
              <a:rPr lang="en-US" dirty="0" err="1"/>
              <a:t>fasta</a:t>
            </a:r>
            <a:r>
              <a:rPr lang="en-US" dirty="0"/>
              <a:t>/SRR9860122.fasta,</a:t>
            </a:r>
          </a:p>
          <a:p>
            <a:r>
              <a:rPr lang="en-US" dirty="0"/>
              <a:t>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</a:t>
            </a:r>
            <a:r>
              <a:rPr lang="en-US" dirty="0" err="1"/>
              <a:t>fasta</a:t>
            </a:r>
            <a:r>
              <a:rPr lang="en-US" dirty="0"/>
              <a:t>/ERR485020.fasta' \  </a:t>
            </a:r>
          </a:p>
          <a:p>
            <a:r>
              <a:rPr lang="en-US" dirty="0"/>
              <a:t>--</a:t>
            </a:r>
            <a:r>
              <a:rPr lang="en-US" dirty="0" err="1"/>
              <a:t>refseqfile</a:t>
            </a:r>
            <a:r>
              <a:rPr lang="en-US" dirty="0"/>
              <a:t> '/Users/ajy_25yahoo.com/Desktop/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</a:t>
            </a:r>
            <a:r>
              <a:rPr lang="en-US" dirty="0" err="1"/>
              <a:t>fastq</a:t>
            </a:r>
            <a:r>
              <a:rPr lang="en-US" dirty="0"/>
              <a:t>/PROKKA_06042025/PROKKA_06042025_aligned.fna' \  </a:t>
            </a:r>
          </a:p>
          <a:p>
            <a:r>
              <a:rPr lang="en-US" dirty="0"/>
              <a:t>--</a:t>
            </a:r>
            <a:r>
              <a:rPr lang="en-US" dirty="0" err="1"/>
              <a:t>refphylogeny</a:t>
            </a:r>
            <a:r>
              <a:rPr lang="en-US" dirty="0"/>
              <a:t> '/Users/ajy_25yahoo.com/Desktop/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</a:t>
            </a:r>
            <a:r>
              <a:rPr lang="en-US" dirty="0" err="1"/>
              <a:t>fastq</a:t>
            </a:r>
            <a:r>
              <a:rPr lang="en-US" dirty="0"/>
              <a:t>/PROKKA_06042025/</a:t>
            </a:r>
            <a:r>
              <a:rPr lang="en-US" dirty="0" err="1"/>
              <a:t>ref_aligned.fasta</a:t>
            </a:r>
            <a:r>
              <a:rPr lang="en-US" dirty="0"/>
              <a:t>' \  </a:t>
            </a:r>
          </a:p>
          <a:p>
            <a:r>
              <a:rPr lang="en-US" dirty="0"/>
              <a:t>--model LG+F+R6 \  </a:t>
            </a:r>
          </a:p>
          <a:p>
            <a:r>
              <a:rPr lang="en-US" dirty="0"/>
              <a:t>--</a:t>
            </a:r>
            <a:r>
              <a:rPr lang="en-US" dirty="0" err="1"/>
              <a:t>outdir</a:t>
            </a:r>
            <a:r>
              <a:rPr lang="en-US" dirty="0"/>
              <a:t> 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/output/</a:t>
            </a:r>
            <a:r>
              <a:rPr lang="en-US" dirty="0" err="1"/>
              <a:t>phyloplace_results</a:t>
            </a:r>
            <a:r>
              <a:rPr lang="en-US" dirty="0"/>
              <a:t> \  -profile docker \  -c </a:t>
            </a:r>
            <a:r>
              <a:rPr lang="en-US" dirty="0" err="1"/>
              <a:t>memory_override.config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BDC27-B6F6-431A-469A-04A27033D872}"/>
              </a:ext>
            </a:extLst>
          </p:cNvPr>
          <p:cNvSpPr txBox="1"/>
          <p:nvPr/>
        </p:nvSpPr>
        <p:spPr>
          <a:xfrm>
            <a:off x="925688" y="3429000"/>
            <a:ext cx="1098409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nextflow</a:t>
            </a:r>
            <a:r>
              <a:rPr lang="en-US" dirty="0"/>
              <a:t> run </a:t>
            </a:r>
            <a:r>
              <a:rPr lang="en-US" dirty="0" err="1"/>
              <a:t>nf</a:t>
            </a:r>
            <a:r>
              <a:rPr lang="en-US" dirty="0"/>
              <a:t>-core/</a:t>
            </a:r>
            <a:r>
              <a:rPr lang="en-US" dirty="0" err="1"/>
              <a:t>phyloplace</a:t>
            </a:r>
            <a:r>
              <a:rPr lang="en-US" dirty="0"/>
              <a:t> -r 1.0.0 \</a:t>
            </a:r>
          </a:p>
          <a:p>
            <a:r>
              <a:rPr lang="en-US" dirty="0"/>
              <a:t>  --id ajy_run1 \</a:t>
            </a:r>
          </a:p>
          <a:p>
            <a:r>
              <a:rPr lang="en-US" dirty="0"/>
              <a:t>  --</a:t>
            </a:r>
            <a:r>
              <a:rPr lang="en-US" dirty="0" err="1"/>
              <a:t>queryseqfile</a:t>
            </a:r>
            <a:r>
              <a:rPr lang="en-US" dirty="0"/>
              <a:t> '/Users/ajy_25yahoo.com/Desktop/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</a:t>
            </a:r>
            <a:r>
              <a:rPr lang="en-US" dirty="0" err="1"/>
              <a:t>fasta</a:t>
            </a:r>
            <a:r>
              <a:rPr lang="en-US" dirty="0"/>
              <a:t>/SRR9860122.fasta,/Users/ajy_25yahoo.com/Desktop/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</a:t>
            </a:r>
            <a:r>
              <a:rPr lang="en-US" dirty="0" err="1"/>
              <a:t>fasta</a:t>
            </a:r>
            <a:r>
              <a:rPr lang="en-US" dirty="0"/>
              <a:t>/ERR485020.fasta' \</a:t>
            </a:r>
          </a:p>
          <a:p>
            <a:r>
              <a:rPr lang="en-US" dirty="0"/>
              <a:t>  --</a:t>
            </a:r>
            <a:r>
              <a:rPr lang="en-US" dirty="0" err="1"/>
              <a:t>refseqfile</a:t>
            </a:r>
            <a:r>
              <a:rPr lang="en-US" dirty="0"/>
              <a:t> '/Users/ajy_25yahoo.com/Desktop/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</a:t>
            </a:r>
            <a:r>
              <a:rPr lang="en-US" dirty="0" err="1"/>
              <a:t>fastq</a:t>
            </a:r>
            <a:r>
              <a:rPr lang="en-US" dirty="0"/>
              <a:t>/PROKKA_06042025/PROKKA_06042025_aligned.fna' \</a:t>
            </a:r>
          </a:p>
          <a:p>
            <a:r>
              <a:rPr lang="en-US" dirty="0"/>
              <a:t>  --</a:t>
            </a:r>
            <a:r>
              <a:rPr lang="en-US" dirty="0" err="1"/>
              <a:t>refphylogeny</a:t>
            </a:r>
            <a:r>
              <a:rPr lang="en-US" dirty="0"/>
              <a:t> '/Users/ajy_25yahoo.com/Desktop/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</a:t>
            </a:r>
            <a:r>
              <a:rPr lang="en-US" dirty="0" err="1"/>
              <a:t>fastq</a:t>
            </a:r>
            <a:r>
              <a:rPr lang="en-US" dirty="0"/>
              <a:t>/PROKKA_06042025/</a:t>
            </a:r>
            <a:r>
              <a:rPr lang="en-US" dirty="0" err="1"/>
              <a:t>ref_aligned.fasta</a:t>
            </a:r>
            <a:r>
              <a:rPr lang="en-US" dirty="0"/>
              <a:t>' \</a:t>
            </a:r>
          </a:p>
          <a:p>
            <a:r>
              <a:rPr lang="en-US" dirty="0"/>
              <a:t>  --model LG+F+R6 \</a:t>
            </a:r>
          </a:p>
          <a:p>
            <a:r>
              <a:rPr lang="en-US" dirty="0"/>
              <a:t>  --</a:t>
            </a:r>
            <a:r>
              <a:rPr lang="en-US" dirty="0" err="1"/>
              <a:t>outdir</a:t>
            </a:r>
            <a:r>
              <a:rPr lang="en-US" dirty="0"/>
              <a:t> '/Users/ajy_25yahoo.com/Desktop/</a:t>
            </a:r>
            <a:r>
              <a:rPr lang="en-US" dirty="0" err="1"/>
              <a:t>Advance_BioInformatic_Project_Test</a:t>
            </a:r>
            <a:r>
              <a:rPr lang="en-US" dirty="0"/>
              <a:t>/output/</a:t>
            </a:r>
            <a:r>
              <a:rPr lang="en-US" dirty="0" err="1"/>
              <a:t>phyloplace_results</a:t>
            </a:r>
            <a:r>
              <a:rPr lang="en-US" dirty="0"/>
              <a:t>' \</a:t>
            </a:r>
          </a:p>
          <a:p>
            <a:r>
              <a:rPr lang="en-US" dirty="0"/>
              <a:t>  -profile docker \</a:t>
            </a:r>
          </a:p>
          <a:p>
            <a:r>
              <a:rPr lang="en-US" dirty="0"/>
              <a:t>  -c </a:t>
            </a:r>
            <a:r>
              <a:rPr lang="en-US" dirty="0" err="1"/>
              <a:t>memory_override.config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824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90B17-D6EC-136D-5C4D-D5E234DAF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603F2-1694-9868-BB00-13B0F07BB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B321D1-9FFA-53E3-1C4B-DF12743EE8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902" b="-2404"/>
          <a:stretch>
            <a:fillRect/>
          </a:stretch>
        </p:blipFill>
        <p:spPr bwMode="auto">
          <a:xfrm>
            <a:off x="519099" y="1825625"/>
            <a:ext cx="11636288" cy="33454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04621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2BAB-31DF-0EFD-8C5A-056C84161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BBB95-A412-C81A-395D-998B99D6D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56" y="474133"/>
            <a:ext cx="10902244" cy="5702830"/>
          </a:xfrm>
          <a:ln>
            <a:solidFill>
              <a:srgbClr val="FF0000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400" b="1" dirty="0"/>
              <a:t>6. -model LG+F+R6</a:t>
            </a:r>
          </a:p>
          <a:p>
            <a:r>
              <a:rPr lang="en-GB" sz="1400" dirty="0"/>
              <a:t>This specifies the </a:t>
            </a:r>
            <a:r>
              <a:rPr lang="en-GB" sz="1400" b="1" dirty="0"/>
              <a:t>evolutionary model</a:t>
            </a:r>
            <a:r>
              <a:rPr lang="en-GB" sz="1400" dirty="0"/>
              <a:t> for sequence analysis.</a:t>
            </a:r>
          </a:p>
          <a:p>
            <a:r>
              <a:rPr lang="en-GB" sz="1400" dirty="0"/>
              <a:t>LG+F+R6 is a common substitution model for protein sequences.</a:t>
            </a:r>
          </a:p>
          <a:p>
            <a:r>
              <a:rPr lang="en-GB" sz="1400" dirty="0"/>
              <a:t>The pipeline will use this model during phylogenetic placement.</a:t>
            </a:r>
          </a:p>
          <a:p>
            <a:endParaRPr lang="en-GB" sz="1400" dirty="0"/>
          </a:p>
          <a:p>
            <a:pPr marL="0" indent="0">
              <a:buNone/>
            </a:pPr>
            <a:r>
              <a:rPr lang="en-GB" sz="1400" dirty="0"/>
              <a:t>7. </a:t>
            </a:r>
            <a:r>
              <a:rPr lang="en-GB" sz="1400" b="1" dirty="0"/>
              <a:t>--</a:t>
            </a:r>
            <a:r>
              <a:rPr lang="en-GB" sz="1400" b="1" dirty="0" err="1"/>
              <a:t>outdir</a:t>
            </a:r>
            <a:r>
              <a:rPr lang="en-GB" sz="1400" b="1" dirty="0"/>
              <a:t> '/path/to/</a:t>
            </a:r>
            <a:r>
              <a:rPr lang="en-GB" sz="1400" b="1" dirty="0" err="1"/>
              <a:t>phyloplace_results</a:t>
            </a:r>
            <a:r>
              <a:rPr lang="en-GB" sz="1400" b="1" dirty="0"/>
              <a:t>'</a:t>
            </a:r>
          </a:p>
          <a:p>
            <a:r>
              <a:rPr lang="en-GB" sz="1400" dirty="0"/>
              <a:t>Directory where all output files will be saved.</a:t>
            </a:r>
          </a:p>
          <a:p>
            <a:endParaRPr lang="en-GB" sz="1400" dirty="0"/>
          </a:p>
          <a:p>
            <a:pPr marL="0" indent="0">
              <a:buNone/>
            </a:pPr>
            <a:r>
              <a:rPr lang="en-GB" sz="1400" b="1" dirty="0"/>
              <a:t>8. -profile docker</a:t>
            </a:r>
          </a:p>
          <a:p>
            <a:r>
              <a:rPr lang="en-GB" sz="1400" dirty="0"/>
              <a:t>Tells </a:t>
            </a:r>
            <a:r>
              <a:rPr lang="en-GB" sz="1400" dirty="0" err="1"/>
              <a:t>Nextflow</a:t>
            </a:r>
            <a:r>
              <a:rPr lang="en-GB" sz="1400" dirty="0"/>
              <a:t> to use the </a:t>
            </a:r>
            <a:r>
              <a:rPr lang="en-GB" sz="1400" b="1" dirty="0"/>
              <a:t>Docker</a:t>
            </a:r>
            <a:r>
              <a:rPr lang="en-GB" sz="1400" dirty="0"/>
              <a:t> container environment to run the pipeline.</a:t>
            </a:r>
          </a:p>
          <a:p>
            <a:pPr marL="0" indent="0">
              <a:buNone/>
            </a:pPr>
            <a:endParaRPr lang="en-GB" sz="1400" b="1" dirty="0"/>
          </a:p>
          <a:p>
            <a:pPr marL="0" indent="0">
              <a:buNone/>
            </a:pPr>
            <a:r>
              <a:rPr lang="en-GB" sz="1400" b="1" dirty="0"/>
              <a:t>9. -c </a:t>
            </a:r>
            <a:r>
              <a:rPr lang="en-GB" sz="1400" b="1" dirty="0" err="1"/>
              <a:t>memory_override.config</a:t>
            </a:r>
            <a:endParaRPr lang="en-GB" sz="1400" b="1" dirty="0"/>
          </a:p>
          <a:p>
            <a:r>
              <a:rPr lang="en-GB" sz="1400" dirty="0"/>
              <a:t>Loads a custom </a:t>
            </a:r>
            <a:r>
              <a:rPr lang="en-GB" sz="1400" b="1" dirty="0" err="1"/>
              <a:t>Nextflow</a:t>
            </a:r>
            <a:r>
              <a:rPr lang="en-GB" sz="1400" b="1" dirty="0"/>
              <a:t> config file</a:t>
            </a:r>
            <a:r>
              <a:rPr lang="en-GB" sz="1400" dirty="0"/>
              <a:t> named </a:t>
            </a:r>
            <a:r>
              <a:rPr lang="en-GB" sz="1400" dirty="0" err="1"/>
              <a:t>memory_override.config</a:t>
            </a:r>
            <a:r>
              <a:rPr lang="en-GB" sz="1400" dirty="0"/>
              <a:t>.</a:t>
            </a:r>
          </a:p>
          <a:p>
            <a:r>
              <a:rPr lang="en-GB" sz="1400" dirty="0"/>
              <a:t>Usually used to override default resource settings like memory, CPU, or runtime for certain steps.</a:t>
            </a:r>
          </a:p>
          <a:p>
            <a:pPr marL="0" indent="0">
              <a:buNone/>
            </a:pPr>
            <a:endParaRPr lang="en-GB" sz="1400" dirty="0"/>
          </a:p>
          <a:p>
            <a:r>
              <a:rPr lang="en-GB" sz="1400" b="1" dirty="0"/>
              <a:t>Note: continuation character \</a:t>
            </a:r>
          </a:p>
          <a:p>
            <a:r>
              <a:rPr lang="en-GB" sz="1400" dirty="0"/>
              <a:t>The backslash \ at the end of each line tells the shell that the command continues on the next line.</a:t>
            </a:r>
          </a:p>
          <a:p>
            <a:r>
              <a:rPr lang="en-GB" sz="1400" dirty="0"/>
              <a:t>It improves readability for long commands.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399028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446C8-F167-39E8-9F11-3CD2A8C81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1AD66-4F9B-A0C8-2CFD-FDCB62791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897" y="430641"/>
            <a:ext cx="8164015" cy="534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7237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1FE2-E41B-4F15-CDEC-490EACA5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0B957-AFCE-0624-3410-96C4EE73C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7372E-F951-5A9C-8804-DEA3F35292CC}"/>
              </a:ext>
            </a:extLst>
          </p:cNvPr>
          <p:cNvSpPr txBox="1"/>
          <p:nvPr/>
        </p:nvSpPr>
        <p:spPr>
          <a:xfrm>
            <a:off x="3050628" y="837425"/>
            <a:ext cx="6101254" cy="5183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1800" b="1" kern="0" dirty="0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Limitations and Caveats</a:t>
            </a:r>
            <a:endParaRPr lang="en-GB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1800" b="1" kern="0" dirty="0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are many limitations and caveats to this study</a:t>
            </a:r>
            <a:endParaRPr lang="en-GB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1800" b="1" kern="0" dirty="0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Sample size: This project used only 2 lactobacillus query sequence and one lactobacillus </a:t>
            </a:r>
            <a:r>
              <a:rPr lang="en-GB" sz="1800" b="1" kern="0" dirty="0" err="1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refrence</a:t>
            </a:r>
            <a:r>
              <a:rPr lang="en-GB" sz="1800" b="1" kern="0" dirty="0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sequence, which is too small to make any meaningful conclusion from.</a:t>
            </a:r>
            <a:endParaRPr lang="en-GB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1800" b="1" kern="0" dirty="0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running the pipeline: software version was one issue </a:t>
            </a:r>
            <a:endParaRPr lang="en-GB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1800" b="1" kern="0" dirty="0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GB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1200"/>
              </a:spcAft>
            </a:pPr>
            <a:r>
              <a:rPr lang="en-GB" sz="1800" b="1" kern="0" dirty="0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1800" b="1" kern="0" dirty="0" err="1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realiabilut</a:t>
            </a:r>
            <a:r>
              <a:rPr lang="en-GB" sz="1800" b="1" kern="0" dirty="0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GB" sz="1800" b="1" kern="0" dirty="0" err="1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GB" sz="1800" b="1" kern="0" dirty="0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b="1" kern="0" dirty="0" err="1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phylo</a:t>
            </a:r>
            <a:r>
              <a:rPr lang="en-GB" sz="1800" b="1" kern="0" dirty="0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construct </a:t>
            </a:r>
            <a:endParaRPr lang="en-GB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727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</TotalTime>
  <Words>1899</Words>
  <Application>Microsoft Macintosh PowerPoint</Application>
  <PresentationFormat>Widescreen</PresentationFormat>
  <Paragraphs>189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-apple-system</vt:lpstr>
      <vt:lpstr>Aptos</vt:lpstr>
      <vt:lpstr>Aptos Display</vt:lpstr>
      <vt:lpstr>Arial</vt:lpstr>
      <vt:lpstr>Segoe UI</vt:lpstr>
      <vt:lpstr>Wingdings</vt:lpstr>
      <vt:lpstr>Office Theme</vt:lpstr>
      <vt:lpstr>PowerPoint Presentation</vt:lpstr>
      <vt:lpstr>Contents</vt:lpstr>
      <vt:lpstr>1. Background information </vt:lpstr>
      <vt:lpstr>The bioinformatic tools that my project will be focusing:</vt:lpstr>
      <vt:lpstr>Uses of nf-core/phyloplace</vt:lpstr>
      <vt:lpstr>2. Research question &amp; hypothesis </vt:lpstr>
      <vt:lpstr>PowerPoint Presentation</vt:lpstr>
      <vt:lpstr>Step 1: download In-put files</vt:lpstr>
      <vt:lpstr>2. Pipeline Command 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Quality Control</vt:lpstr>
      <vt:lpstr>PowerPoint Presentation</vt:lpstr>
      <vt:lpstr>Sequence Type Identification from BLAST+</vt:lpstr>
      <vt:lpstr>PowerPoint Presentation</vt:lpstr>
      <vt:lpstr>BEAST</vt:lpstr>
      <vt:lpstr>PowerPoint Presentation</vt:lpstr>
      <vt:lpstr>Future Directions </vt:lpstr>
      <vt:lpstr>PowerPoint Presentation</vt:lpstr>
      <vt:lpstr>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poudel</dc:creator>
  <cp:lastModifiedBy>ajay poudel</cp:lastModifiedBy>
  <cp:revision>39</cp:revision>
  <dcterms:created xsi:type="dcterms:W3CDTF">2025-06-06T04:27:08Z</dcterms:created>
  <dcterms:modified xsi:type="dcterms:W3CDTF">2025-06-08T18:31:06Z</dcterms:modified>
</cp:coreProperties>
</file>