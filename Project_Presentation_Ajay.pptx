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65" r:id="rId2"/>
    <p:sldId id="275" r:id="rId3"/>
    <p:sldId id="264" r:id="rId4"/>
    <p:sldId id="266" r:id="rId5"/>
    <p:sldId id="276" r:id="rId6"/>
    <p:sldId id="263" r:id="rId7"/>
    <p:sldId id="262" r:id="rId8"/>
    <p:sldId id="277" r:id="rId9"/>
    <p:sldId id="257" r:id="rId10"/>
    <p:sldId id="273" r:id="rId11"/>
    <p:sldId id="274" r:id="rId12"/>
    <p:sldId id="280" r:id="rId13"/>
    <p:sldId id="267" r:id="rId14"/>
    <p:sldId id="297" r:id="rId15"/>
    <p:sldId id="301" r:id="rId16"/>
    <p:sldId id="304" r:id="rId17"/>
    <p:sldId id="284" r:id="rId18"/>
    <p:sldId id="302" r:id="rId19"/>
    <p:sldId id="285" r:id="rId20"/>
    <p:sldId id="283" r:id="rId21"/>
    <p:sldId id="292" r:id="rId22"/>
    <p:sldId id="293" r:id="rId23"/>
    <p:sldId id="289" r:id="rId24"/>
    <p:sldId id="291" r:id="rId25"/>
    <p:sldId id="282" r:id="rId26"/>
    <p:sldId id="303" r:id="rId27"/>
    <p:sldId id="28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53"/>
    <p:restoredTop sz="94493"/>
  </p:normalViewPr>
  <p:slideViewPr>
    <p:cSldViewPr snapToGrid="0">
      <p:cViewPr varScale="1">
        <p:scale>
          <a:sx n="65" d="100"/>
          <a:sy n="65" d="100"/>
        </p:scale>
        <p:origin x="208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14CC22-3197-3D4A-ACEE-3A46B83812C6}" type="datetimeFigureOut">
              <a:rPr lang="en-US" smtClean="0"/>
              <a:t>6/9/25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3BE6E-AEB5-2048-B072-CD0BAA175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63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3BE6E-AEB5-2048-B072-CD0BAA1755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96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ECEB6-B7EA-DCD1-4F24-DBD3558A7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715B6-DEC1-AC09-BFA3-A83F31DBF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6F562-3C9D-B094-F292-2956819F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3C220-DAE0-B74B-8B5D-6A09F2FBC053}" type="datetime1">
              <a:rPr lang="en-GB" smtClean="0"/>
              <a:t>09/06/2025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1AF58-C1C1-03EC-F922-A5EE2476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E61D7-1B51-9312-AD07-97ACB94C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556C-9795-1CB9-079D-0419A5D64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4FF09-FA8F-E9A1-FA56-BCED360B7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44CF6-6553-A8A9-56F1-032ADF09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1653-05FE-824F-AC14-B8E10A9BDD21}" type="datetime1">
              <a:rPr lang="en-GB" smtClean="0"/>
              <a:t>09/06/2025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8B8B8-41E2-8D09-82D2-C4945B30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F6168-5D18-FDE7-325B-1C0AD54E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7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20D6-7351-E5AD-95D9-0FE9E951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CA8E8-F9C0-C21F-D274-A2417FEF8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7B14A-E6E0-0FCE-9AF9-6F2BF7D11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4DAA7-FB78-9D43-9973-C24150695B06}" type="datetime1">
              <a:rPr lang="en-GB" smtClean="0"/>
              <a:t>09/06/2025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D4877-BF76-B9F9-50FE-655E9049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76B34-C13C-4F18-38E9-05F98306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0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EE8FD-E820-557D-AB3F-D6FCB4E2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D48D-C59C-7B9A-B30F-85C5818AD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B632C-05A3-39F6-EB86-2C8A3D21B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A64C1-4A7C-493A-EBAB-ABC94D44B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1E538-8BF2-CE4E-BDD5-81865C5599F3}" type="datetime1">
              <a:rPr lang="en-GB" smtClean="0"/>
              <a:t>09/06/2025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2029F-F0F7-DF5C-7FBE-96DF181E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7D726-618F-1951-5B63-2FFE0EC3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7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36EE-271D-BA14-2C22-BB06C4D0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B4113-C5D7-EDF7-11E5-D105033AF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61FEC-DAD7-187C-AF8D-8980ED80D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0C60A-C3FC-076D-9870-A8E2C30CD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81A2C6-0722-0FEE-61F7-F5437969A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813CC5-187B-1A8C-8EC9-5BD4F190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43DE1-D9E1-D14E-99DD-C281DBC8C012}" type="datetime1">
              <a:rPr lang="en-GB" smtClean="0"/>
              <a:t>09/06/2025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2AB40C-8849-839D-7DD2-6FAB2A3E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603A4-2889-D257-6D03-284006E2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3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1792-8CE0-3BE1-3CD0-E33E8E64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85E27-06CB-CDBB-D8D4-22DFA6B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A7A0B-4D4B-B54B-BC2C-D7AB3FF5DC21}" type="datetime1">
              <a:rPr lang="en-GB" smtClean="0"/>
              <a:t>09/06/2025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E4EDB-B6CF-984E-0201-B1BAC550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F7AEF-D551-D11F-4F30-3D55414D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2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4FDF4-FC51-84BF-278C-86F6CEFBE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E77-6973-C548-BF45-B74B497101DD}" type="datetime1">
              <a:rPr lang="en-GB" smtClean="0"/>
              <a:t>09/06/2025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4320E-884D-532B-A39E-BB157F83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620B0-92F5-DC86-BFFB-B718368F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D0A1-ABE6-075B-C9CA-A5516DF9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BEA70-5CD3-C2CE-8439-BB5972986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1F56-1FE4-38CF-3A78-14931D234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5A393-95D4-404A-E4A6-47DB1C83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2014-27B9-4A4B-A600-0E8602E7CA23}" type="datetime1">
              <a:rPr lang="en-GB" smtClean="0"/>
              <a:t>09/06/2025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D8ABF-A05F-74E8-DEA2-BC1AE7CC5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77641-D802-9DE3-114C-07E8E441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2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4300-E6D4-08F8-6AD9-6D3E11EFC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B653A5-F0C4-AB43-70E4-864DA6D83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E221C-7C38-8F79-70C5-0FDD0D73D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01313-A727-CA53-EB60-7AE2AD2F5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A4F7-3C4C-8547-A2D4-1F6B3432B6B9}" type="datetime1">
              <a:rPr lang="en-GB" smtClean="0"/>
              <a:t>09/06/2025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48C74-D106-95D2-02CF-B2047530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00040-7D98-09ED-F631-2FCDF207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3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70C3-4B8F-4481-C5C7-C6F0620F8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409A4-5AAC-CC36-F461-71827CB61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893E-F761-0BB6-CCD0-512C2A90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5D249-9E5E-7D4A-8F42-63BA54CE8854}" type="datetime1">
              <a:rPr lang="en-GB" smtClean="0"/>
              <a:t>09/06/2025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42C1-8C01-4896-671D-69BBB284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56B7C-1DCE-50A0-C961-10AC6778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17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634C0-9DD1-4B68-4AF2-18DBECD05F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EB452-2C93-5131-A570-43CA6E774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9E9EE-BECD-F01C-8D64-7BF80189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6EA0B-77AA-BB48-AB67-8BE4AB581ADA}" type="datetime1">
              <a:rPr lang="en-GB" smtClean="0"/>
              <a:t>09/06/2025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41621-D80F-FFF8-EB25-C4911D0B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79C87-E367-FBA5-0D85-AA194770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3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42F29-C68F-8F94-B21A-09B268C7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4A41-7499-1BFC-E597-C2D41B978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0C63F-3E52-713D-1410-175CA34A3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9EC36C-CF2B-3D47-8963-F0659E54052E}" type="datetime1">
              <a:rPr lang="en-GB" smtClean="0"/>
              <a:t>09/06/2025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0691F-6B97-9457-430E-6D8B2BC11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ECEA2-3BA0-B039-CD8A-39DDD7592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8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n.wikipedia.org/wiki/Probioti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xtflow.i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leth-advanced-bioinformatics/BCHM5420A-summer-2025" TargetMode="External"/><Relationship Id="rId2" Type="http://schemas.openxmlformats.org/officeDocument/2006/relationships/hyperlink" Target="https://github.com/nf-core/phyloplace/tree/1.0.0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9E42-321B-0622-FB23-C5DB9DB9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14EB5-C173-3421-D190-6E7E9CFEC45D}"/>
              </a:ext>
            </a:extLst>
          </p:cNvPr>
          <p:cNvSpPr txBox="1"/>
          <p:nvPr/>
        </p:nvSpPr>
        <p:spPr>
          <a:xfrm>
            <a:off x="227286" y="890023"/>
            <a:ext cx="1127234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GB" sz="4000" b="1" i="0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Phylogenetic Analysis of </a:t>
            </a:r>
            <a:r>
              <a:rPr lang="en-GB" sz="4000" b="1" i="1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Lactobacillus</a:t>
            </a:r>
            <a:r>
              <a:rPr lang="en-GB" sz="4000" b="1" i="0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 spp.</a:t>
            </a:r>
          </a:p>
          <a:p>
            <a:pPr algn="ctr">
              <a:spcAft>
                <a:spcPts val="1200"/>
              </a:spcAft>
            </a:pPr>
            <a:r>
              <a:rPr lang="en-GB" sz="4000" b="1" i="0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 Using </a:t>
            </a:r>
            <a:r>
              <a:rPr lang="en-GB" sz="4000" b="1" i="0" dirty="0" err="1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nf</a:t>
            </a:r>
            <a:r>
              <a:rPr lang="en-GB" sz="4000" b="1" i="0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-core/</a:t>
            </a:r>
            <a:r>
              <a:rPr lang="en-GB" sz="4000" b="1" i="0" dirty="0" err="1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phyloplace</a:t>
            </a:r>
            <a:r>
              <a:rPr lang="en-GB" sz="4000" b="1" i="0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 Pipeline</a:t>
            </a:r>
          </a:p>
          <a:p>
            <a:pPr algn="ctr">
              <a:spcAft>
                <a:spcPts val="1200"/>
              </a:spcAft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200"/>
              </a:spcAft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200"/>
              </a:spcAft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200"/>
              </a:spcAft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2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Advanced Bioinformatics (BCHM5420) </a:t>
            </a:r>
          </a:p>
          <a:p>
            <a:pPr algn="ctr">
              <a:spcAft>
                <a:spcPts val="12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University of Lethbridge</a:t>
            </a:r>
          </a:p>
          <a:p>
            <a:pPr algn="ctr">
              <a:spcAft>
                <a:spcPts val="1200"/>
              </a:spcAft>
            </a:pPr>
            <a:endParaRPr lang="en-GB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2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Ajay Poudel</a:t>
            </a:r>
            <a:endParaRPr lang="en-GB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200"/>
              </a:spcAft>
            </a:pP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DNA data analytics representation made up of hexagonal shapes and alphabet letters">
            <a:extLst>
              <a:ext uri="{FF2B5EF4-FFF2-40B4-BE49-F238E27FC236}">
                <a16:creationId xmlns:a16="http://schemas.microsoft.com/office/drawing/2014/main" id="{5502B91F-58E1-4BBF-95C1-9BB535AF3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149" y="4743450"/>
            <a:ext cx="3525565" cy="186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2919F-728C-A402-BDCC-D2DCCEE0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33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C7A5-0D52-8FA3-85D8-782CA32B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solidFill>
                  <a:srgbClr val="FF0000"/>
                </a:solidFill>
                <a:cs typeface="Arial" panose="020B0604020202020204" pitchFamily="34" charset="0"/>
              </a:rPr>
              <a:t>Contents</a:t>
            </a:r>
            <a:endParaRPr lang="en-US" sz="36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A3A41-932C-A8CD-5ED1-A199A09F0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8074" y="855245"/>
            <a:ext cx="8698910" cy="4798739"/>
          </a:xfrm>
          <a:ln w="9525">
            <a:noFill/>
          </a:ln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Background information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Research question &amp; hypothesis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Analysis and Methods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Results and Visualizations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Discussion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Future Plan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 Limitations &amp; Caveats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B62EB-2051-3C97-1391-D5469937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61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7C30-3DE8-5309-17DD-A22DD725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68" y="-255062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GB" sz="3600" b="1" dirty="0">
                <a:solidFill>
                  <a:srgbClr val="FF0000"/>
                </a:solidFill>
                <a:cs typeface="Arial" panose="020B0604020202020204" pitchFamily="34" charset="0"/>
              </a:rPr>
              <a:t>1. Background information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13EA2-417E-7750-3196-0B2765ADB61D}"/>
              </a:ext>
            </a:extLst>
          </p:cNvPr>
          <p:cNvSpPr txBox="1"/>
          <p:nvPr/>
        </p:nvSpPr>
        <p:spPr>
          <a:xfrm>
            <a:off x="8518635" y="6031893"/>
            <a:ext cx="9362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Source: Lactobacillus </a:t>
            </a:r>
            <a:r>
              <a:rPr lang="en-GB" dirty="0"/>
              <a:t>(Wikipedia)</a:t>
            </a:r>
            <a:r>
              <a:rPr lang="en-GB" i="1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CE26B-2E6D-00E1-1EC5-C346061EADF3}"/>
              </a:ext>
            </a:extLst>
          </p:cNvPr>
          <p:cNvSpPr txBox="1"/>
          <p:nvPr/>
        </p:nvSpPr>
        <p:spPr>
          <a:xfrm>
            <a:off x="266699" y="1070501"/>
            <a:ext cx="10350869" cy="256300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1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Lactobacilli </a:t>
            </a:r>
            <a:r>
              <a:rPr lang="en-GB" sz="2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 bacteria that colonised human and animal body sites, such as the digestive tract and the female genital tract.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Lactobacilli are among the most common 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2" tooltip="Probiotic"/>
              </a:rPr>
              <a:t>probiotic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 found in food (such as yogurt).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E0E7B-8C8E-25B2-6851-0CDA96C93446}"/>
              </a:ext>
            </a:extLst>
          </p:cNvPr>
          <p:cNvSpPr txBox="1"/>
          <p:nvPr/>
        </p:nvSpPr>
        <p:spPr>
          <a:xfrm>
            <a:off x="4969737" y="5556666"/>
            <a:ext cx="8986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Lactobacillus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sp. near a squamous epithelial cell.</a:t>
            </a:r>
          </a:p>
        </p:txBody>
      </p:sp>
      <p:pic>
        <p:nvPicPr>
          <p:cNvPr id="1026" name="Picture 2" descr="&quot;Lactobacillus&quot; sp. near a squamous epithelial cell">
            <a:extLst>
              <a:ext uri="{FF2B5EF4-FFF2-40B4-BE49-F238E27FC236}">
                <a16:creationId xmlns:a16="http://schemas.microsoft.com/office/drawing/2014/main" id="{FE15591B-1BD4-CEBB-876E-C948EE086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035" y="3333372"/>
            <a:ext cx="2776045" cy="220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E3770-7759-3120-245F-EAE9C386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8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71D0-5FD1-D91F-90FD-82548535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75" y="0"/>
            <a:ext cx="8826062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cs typeface="Arial" panose="020B0604020202020204" pitchFamily="34" charset="0"/>
              </a:rPr>
              <a:t>The bioinformatic tools that my project focused: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A38AC-C82D-F1BE-F0BB-AF538A478A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04"/>
          <a:stretch>
            <a:fillRect/>
          </a:stretch>
        </p:blipFill>
        <p:spPr>
          <a:xfrm>
            <a:off x="676775" y="1010008"/>
            <a:ext cx="10194125" cy="31174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6C9C06-0204-9482-DC91-1813B159BEB5}"/>
              </a:ext>
            </a:extLst>
          </p:cNvPr>
          <p:cNvSpPr txBox="1"/>
          <p:nvPr/>
        </p:nvSpPr>
        <p:spPr>
          <a:xfrm>
            <a:off x="329753" y="4160084"/>
            <a:ext cx="11655418" cy="22670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pipeline is built using </a:t>
            </a:r>
            <a:r>
              <a:rPr lang="en-GB" sz="2600" b="0" i="0" u="sng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Nextflow</a:t>
            </a:r>
            <a:r>
              <a:rPr lang="en-GB" sz="26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i="1" dirty="0"/>
              <a:t> 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High recommendation the use of Docker or Singularity containers for full pipeline reproducibility. However when this is not possible, Conda is also supported</a:t>
            </a:r>
            <a:endParaRPr lang="en-GB" sz="2400" b="0" dirty="0">
              <a:solidFill>
                <a:srgbClr val="21252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421ABE-CBA3-DDA9-91AF-CF0940EAB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93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FF9A-60F9-DB78-338D-6DB24BE7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41" y="33359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Uses of </a:t>
            </a:r>
            <a:r>
              <a:rPr lang="en-US" sz="3600" b="1" dirty="0" err="1">
                <a:solidFill>
                  <a:srgbClr val="FF0000"/>
                </a:solidFill>
              </a:rPr>
              <a:t>nf</a:t>
            </a:r>
            <a:r>
              <a:rPr lang="en-US" sz="3600" b="1" dirty="0">
                <a:solidFill>
                  <a:srgbClr val="FF0000"/>
                </a:solidFill>
              </a:rPr>
              <a:t>-core/</a:t>
            </a:r>
            <a:r>
              <a:rPr lang="en-US" sz="3600" b="1" dirty="0" err="1">
                <a:solidFill>
                  <a:srgbClr val="FF0000"/>
                </a:solidFill>
              </a:rPr>
              <a:t>phyloplace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2A435-9376-B4D6-46EC-234614200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41" y="1636443"/>
            <a:ext cx="11388178" cy="4398597"/>
          </a:xfrm>
          <a:ln w="635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phylogenetic placement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by individually mapping query sequences onto a reference tree based on likelihood.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Avoids reconstructing a full phylogeny, making it ideal for short sequences (e.g., PCR amplicons, metagenomic fragments)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Also useful for  large sequence datasets.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final output includes a complete tree with both reference and query sequences, where queries are inserted at their most likely positions.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B68740-2F1E-EA7D-B3F5-AAD7D98CE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360" y="3719385"/>
            <a:ext cx="1240659" cy="295891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D9D99-5844-F0A3-84C7-E2AD98A8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82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2B4E-ABFE-72C3-8957-69754854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21" y="-1747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FF0000"/>
                </a:solidFill>
              </a:rPr>
              <a:t>2. Research question &amp; hypothesis 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F3C08C-C596-6D93-9DEB-F25C587F350F}"/>
              </a:ext>
            </a:extLst>
          </p:cNvPr>
          <p:cNvSpPr txBox="1"/>
          <p:nvPr/>
        </p:nvSpPr>
        <p:spPr>
          <a:xfrm>
            <a:off x="173421" y="914410"/>
            <a:ext cx="10815144" cy="5563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Research Question: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How do my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Lactobacillus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query sequences relate phylogenetically to known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Lactobacillus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reference sequence within an established reference tree?</a:t>
            </a:r>
          </a:p>
          <a:p>
            <a:pPr lvl="1">
              <a:lnSpc>
                <a:spcPct val="15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(This will let us know whether the query isolates fall within known clades or form distinct lineages when placed on a curated phylogeny.)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Hypothesis 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Genomic analysis of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Lactobacillus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core/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will enable accurate phylogenetic placement and reveal distinct clustering that reflect their evolutionary relationships.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DD6F55-6A31-9391-3359-714BD5BC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4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BD2787-5527-52C1-A6BB-71A56A5E11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1360" t="-2168" r="47492" b="-661"/>
          <a:stretch>
            <a:fillRect/>
          </a:stretch>
        </p:blipFill>
        <p:spPr>
          <a:xfrm>
            <a:off x="7874162" y="214524"/>
            <a:ext cx="3593755" cy="6643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0C2B67-D324-52CB-BF0A-879C7E8FEE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755" t="-1033" r="16527" b="31167"/>
          <a:stretch>
            <a:fillRect/>
          </a:stretch>
        </p:blipFill>
        <p:spPr>
          <a:xfrm>
            <a:off x="552449" y="1602921"/>
            <a:ext cx="8115301" cy="39813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159A5E-D381-37A6-BD8E-58237E417E05}"/>
              </a:ext>
            </a:extLst>
          </p:cNvPr>
          <p:cNvSpPr txBox="1"/>
          <p:nvPr/>
        </p:nvSpPr>
        <p:spPr>
          <a:xfrm>
            <a:off x="2424234" y="329199"/>
            <a:ext cx="6747640" cy="843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3. Analysis and Methods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F59B5-FF4A-CD77-09BE-DC4F80B5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98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269D-1A5C-34C4-D41E-BFB890F6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17" y="56114"/>
            <a:ext cx="10515600" cy="1325563"/>
          </a:xfrm>
        </p:spPr>
        <p:txBody>
          <a:bodyPr/>
          <a:lstStyle/>
          <a:p>
            <a:r>
              <a:rPr lang="en-US" b="1" dirty="0"/>
              <a:t>Step 1: download In-put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9F29E-7DCF-0D26-7D7E-A292FAE4F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296" y="1163462"/>
            <a:ext cx="10854747" cy="2521946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Using the command line, downloaded three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FASTA files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(Illumina platform). </a:t>
            </a:r>
          </a:p>
          <a:p>
            <a:pPr lvl="1">
              <a:lnSpc>
                <a:spcPct val="16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Two 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Lactobacillus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genomes were selected as query sequences</a:t>
            </a:r>
          </a:p>
          <a:p>
            <a:pPr lvl="1">
              <a:lnSpc>
                <a:spcPct val="16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One multiple sequence alignment FASTA file as reference sequence.</a:t>
            </a:r>
          </a:p>
          <a:p>
            <a:pPr marL="457200" lvl="1" indent="0">
              <a:lnSpc>
                <a:spcPct val="16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6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7B2F3E-EA7B-FF69-EC7C-D7AC4EB1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4238544"/>
            <a:ext cx="11858246" cy="25219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3AE700-6FAF-7ABC-0BBF-4DE6BBFA9366}"/>
              </a:ext>
            </a:extLst>
          </p:cNvPr>
          <p:cNvSpPr txBox="1"/>
          <p:nvPr/>
        </p:nvSpPr>
        <p:spPr>
          <a:xfrm>
            <a:off x="333754" y="3981288"/>
            <a:ext cx="2276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CSV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E3F7A-4A20-9794-5432-D776D4F9A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1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829E7D-EAE3-09F2-5B1E-6E91CC8FE8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50" r="31090" b="8366"/>
          <a:stretch>
            <a:fillRect/>
          </a:stretch>
        </p:blipFill>
        <p:spPr>
          <a:xfrm>
            <a:off x="478218" y="1290253"/>
            <a:ext cx="11713782" cy="520262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8A006EB-A544-5EB9-8D10-A594422F6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b="1" dirty="0"/>
              <a:t>2. Pipeline Command Used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67B260-156C-03CC-B024-3DFEC3C4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4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1B5462-7D79-B42B-CB68-ACD3D0F7A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42414"/>
              </p:ext>
            </p:extLst>
          </p:nvPr>
        </p:nvGraphicFramePr>
        <p:xfrm>
          <a:off x="228600" y="779748"/>
          <a:ext cx="11736489" cy="58967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572250">
                  <a:extLst>
                    <a:ext uri="{9D8B030D-6E8A-4147-A177-3AD203B41FA5}">
                      <a16:colId xmlns:a16="http://schemas.microsoft.com/office/drawing/2014/main" val="2807556619"/>
                    </a:ext>
                  </a:extLst>
                </a:gridCol>
                <a:gridCol w="5164239">
                  <a:extLst>
                    <a:ext uri="{9D8B030D-6E8A-4147-A177-3AD203B41FA5}">
                      <a16:colId xmlns:a16="http://schemas.microsoft.com/office/drawing/2014/main" val="1924867731"/>
                    </a:ext>
                  </a:extLst>
                </a:gridCol>
              </a:tblGrid>
              <a:tr h="39454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51192" marR="51192" marT="25596" marB="2559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 / Description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938528"/>
                  </a:ext>
                </a:extLst>
              </a:tr>
              <a:tr h="87084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-r 1.0.0</a:t>
                      </a:r>
                    </a:p>
                  </a:txBody>
                  <a:tcPr marL="51192" marR="51192" marT="25596" marB="2559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Specifies version of the 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nf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-core/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phyloplace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pipeline to run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288248"/>
                  </a:ext>
                </a:extLst>
              </a:tr>
              <a:tr h="110176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--id ajy_run1</a:t>
                      </a:r>
                    </a:p>
                  </a:txBody>
                  <a:tcPr marL="51192" marR="51192" marT="25596" marB="2559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Assigns a unique identifier (ajy_run1) to pipeline. Helpful for 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labeling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outputs / logs.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857619"/>
                  </a:ext>
                </a:extLst>
              </a:tr>
              <a:tr h="1529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queryseqfile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'/path/to/SRR9860122.fasta,/path/to/ERR485020.fasta'</a:t>
                      </a:r>
                    </a:p>
                  </a:txBody>
                  <a:tcPr marL="51192" marR="51192" marT="25596" marB="2559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Query sequences file(s). FASTA files separated by a comma inside one string.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76147"/>
                  </a:ext>
                </a:extLst>
              </a:tr>
              <a:tr h="18416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----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refseqfile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'/path/to/PROKKA_06042025_aligned.fna'</a:t>
                      </a:r>
                    </a:p>
                  </a:txBody>
                  <a:tcPr marL="51192" marR="51192" marT="25596" marB="2559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 file, a MSA of known 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Lactobacillus.Query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sequences will be compared/placed against this reference.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1214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C7016E-040F-83FA-77E7-9B148BDAA1BD}"/>
              </a:ext>
            </a:extLst>
          </p:cNvPr>
          <p:cNvSpPr txBox="1"/>
          <p:nvPr/>
        </p:nvSpPr>
        <p:spPr>
          <a:xfrm>
            <a:off x="0" y="103415"/>
            <a:ext cx="6098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200" b="1" dirty="0">
                <a:latin typeface="+mj-lt"/>
              </a:rPr>
              <a:t>I</a:t>
            </a:r>
            <a:r>
              <a:rPr lang="en-GB" sz="3200" b="1" i="0" dirty="0">
                <a:effectLst/>
                <a:latin typeface="+mj-lt"/>
              </a:rPr>
              <a:t>nput Parameters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12AD5C-8F01-A09C-452E-A4C9FB40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915445-442D-F71A-3390-BABFA3B9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054216"/>
              </p:ext>
            </p:extLst>
          </p:nvPr>
        </p:nvGraphicFramePr>
        <p:xfrm>
          <a:off x="239300" y="353780"/>
          <a:ext cx="11648090" cy="5974094"/>
        </p:xfrm>
        <a:graphic>
          <a:graphicData uri="http://schemas.openxmlformats.org/drawingml/2006/table">
            <a:tbl>
              <a:tblPr/>
              <a:tblGrid>
                <a:gridCol w="3830085">
                  <a:extLst>
                    <a:ext uri="{9D8B030D-6E8A-4147-A177-3AD203B41FA5}">
                      <a16:colId xmlns:a16="http://schemas.microsoft.com/office/drawing/2014/main" val="3788872237"/>
                    </a:ext>
                  </a:extLst>
                </a:gridCol>
                <a:gridCol w="7818005">
                  <a:extLst>
                    <a:ext uri="{9D8B030D-6E8A-4147-A177-3AD203B41FA5}">
                      <a16:colId xmlns:a16="http://schemas.microsoft.com/office/drawing/2014/main" val="2235782169"/>
                    </a:ext>
                  </a:extLst>
                </a:gridCol>
              </a:tblGrid>
              <a:tr h="8093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refphylogeny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'/path/to/tree'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 phylogeny tree file. 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this tree to place query into phylogenetic context.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065913"/>
                  </a:ext>
                </a:extLst>
              </a:tr>
              <a:tr h="64972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--model 'LG+F+R6'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specifies the evolutionary model for sequence analysis.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pipeline will use this model during phylogenetic placement.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096214"/>
                  </a:ext>
                </a:extLst>
              </a:tr>
              <a:tr h="796991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outdir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'/path/to/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phyloplace_results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sets the directory where all results, logs will be saved.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47261"/>
                  </a:ext>
                </a:extLst>
              </a:tr>
              <a:tr h="8277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-profile docker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tells 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Nextflow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use Docker containers to run the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738657"/>
                  </a:ext>
                </a:extLst>
              </a:tr>
              <a:tr h="17796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-c 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memory_override.config</a:t>
                      </a:r>
                      <a:endParaRPr lang="en-GB" sz="2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loads a custom 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Nextflow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config file named 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memory_override.config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usually used to override default resource settings like memory, CPU, or runtime for certain steps.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2086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82BD054-499D-864E-2B4F-1F8D887E8D8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38200" y="1852612"/>
            <a:ext cx="123169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86DF11-5310-BE33-D210-51008FB0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52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9918-146F-07D4-33F7-282D0D2C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33135B-598A-741B-E9A3-B09372270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GB" sz="4200" b="1" dirty="0">
                <a:solidFill>
                  <a:srgbClr val="FF0000"/>
                </a:solidFill>
                <a:cs typeface="Arial" panose="020B0604020202020204" pitchFamily="34" charset="0"/>
              </a:rPr>
              <a:t>4. Results and</a:t>
            </a:r>
            <a:br>
              <a:rPr lang="en-GB" sz="4200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GB" sz="4200" b="1" dirty="0">
                <a:solidFill>
                  <a:srgbClr val="FF0000"/>
                </a:solidFill>
                <a:cs typeface="Arial" panose="020B0604020202020204" pitchFamily="34" charset="0"/>
              </a:rPr>
              <a:t> Visualizations </a:t>
            </a:r>
            <a:br>
              <a:rPr lang="en-GB" sz="4200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endParaRPr lang="en-US" sz="4200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C29E9-66DA-C2FF-7028-987DE058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65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4D5DE0-9695-4182-AA50-A080F3A77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652" y="2446539"/>
            <a:ext cx="7487036" cy="41087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56B30-1AE4-5235-B6E4-1A029E9A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320" y="58864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59FBF-CEA6-632A-65FC-889957158D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712" r="36648" b="50500"/>
          <a:stretch>
            <a:fillRect/>
          </a:stretch>
        </p:blipFill>
        <p:spPr>
          <a:xfrm>
            <a:off x="4320209" y="152844"/>
            <a:ext cx="7487479" cy="238715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27034-CAB7-8A31-316B-E2293A9F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7930" y="6579870"/>
            <a:ext cx="2743200" cy="365125"/>
          </a:xfrm>
        </p:spPr>
        <p:txBody>
          <a:bodyPr/>
          <a:lstStyle/>
          <a:p>
            <a:fld id="{F830BD2C-8BA7-494C-8998-8475D74EB141}" type="slidenum">
              <a:rPr lang="en-US" smtClean="0"/>
              <a:t>13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D5075-3A2A-EA4C-C30C-76FD95F25BBA}"/>
              </a:ext>
            </a:extLst>
          </p:cNvPr>
          <p:cNvSpPr txBox="1"/>
          <p:nvPr/>
        </p:nvSpPr>
        <p:spPr>
          <a:xfrm>
            <a:off x="0" y="779058"/>
            <a:ext cx="3068320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run 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641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A264-400E-D947-61A4-51973F17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7EDC4-4CA2-3D32-BBF2-2B826A686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0E8A7E-3464-2466-1D0C-12BA3EB0B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45547"/>
            <a:ext cx="11032830" cy="677435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A915E-5FEC-04F5-5A79-7BDAAC6B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08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EB3F-634F-5AF8-339E-6E1C08C9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A4582-DB63-D6AA-4F3F-1A18F413D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75122-6F8F-3B66-2B7D-A1A2C617F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245192"/>
            <a:ext cx="11353800" cy="638905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12161-6BBC-AEB2-D229-6FF903B0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26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6960F-7E36-75ED-0A2D-154322BA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9CC556-8088-90A6-1C7D-EAE5C1240A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36" t="27974" r="15899" b="10677"/>
          <a:stretch>
            <a:fillRect/>
          </a:stretch>
        </p:blipFill>
        <p:spPr>
          <a:xfrm>
            <a:off x="-2723" y="136525"/>
            <a:ext cx="5123364" cy="4232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CA9EAA-B4A5-5013-3033-B8B3B1D05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218" y="1879062"/>
            <a:ext cx="6804764" cy="465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27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57C4-567A-480F-63C1-0A819E57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92951-8246-77DA-0306-D4444B03D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C6356-0FBC-DFFE-2380-54D8D41514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94"/>
          <a:stretch>
            <a:fillRect/>
          </a:stretch>
        </p:blipFill>
        <p:spPr>
          <a:xfrm>
            <a:off x="96645" y="1690688"/>
            <a:ext cx="12085595" cy="32568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CA8C12-2B59-5B72-3F1C-F74B7772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4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A314-F733-B704-B296-E3EB75F1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B0AB3-E7F3-A81B-9397-8E2729DE7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However, I could run successfully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FASTQC, PROKKA and BLAST+ </a:t>
            </a:r>
            <a:endParaRPr lang="en-U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8E85E-CEB2-E031-F04B-699F624D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04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E0028-03FB-E959-32A4-CD29E3C7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69290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Quality Control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using FASTQC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3B9C9C-BB24-742C-E32D-80F631561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15" t="3649" r="46517" b="-3649"/>
          <a:stretch>
            <a:fillRect/>
          </a:stretch>
        </p:blipFill>
        <p:spPr>
          <a:xfrm>
            <a:off x="5097236" y="365125"/>
            <a:ext cx="6678385" cy="6264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BA926C-E426-3C13-EE9C-3DE6A319713C}"/>
              </a:ext>
            </a:extLst>
          </p:cNvPr>
          <p:cNvSpPr txBox="1"/>
          <p:nvPr/>
        </p:nvSpPr>
        <p:spPr>
          <a:xfrm>
            <a:off x="342901" y="2967335"/>
            <a:ext cx="41637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open 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fastq</a:t>
            </a:r>
            <a:r>
              <a:rPr lang="en-US" dirty="0"/>
              <a:t>/SRR10240887_fastqc.html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F9BA75-0A09-9D18-E1E0-F4279603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05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979F-E40C-13E3-F9D8-057A9306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38665-8F16-896C-6405-B5C8F9E1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150" y="228597"/>
            <a:ext cx="7704367" cy="60270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236F84-0EF8-0492-B30C-2AE785A13EA4}"/>
              </a:ext>
            </a:extLst>
          </p:cNvPr>
          <p:cNvSpPr txBox="1"/>
          <p:nvPr/>
        </p:nvSpPr>
        <p:spPr>
          <a:xfrm>
            <a:off x="31281" y="3650353"/>
            <a:ext cx="4299867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prokka</a:t>
            </a:r>
            <a:r>
              <a:rPr lang="en-US" dirty="0"/>
              <a:t> --</a:t>
            </a:r>
            <a:r>
              <a:rPr lang="en-US" dirty="0" err="1"/>
              <a:t>outdir</a:t>
            </a:r>
            <a:r>
              <a:rPr lang="en-US" dirty="0"/>
              <a:t> PROKKA_run2 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fastq</a:t>
            </a:r>
            <a:r>
              <a:rPr lang="en-US" dirty="0"/>
              <a:t>/SRR9860122_unique.fasta</a:t>
            </a:r>
          </a:p>
          <a:p>
            <a:pPr>
              <a:lnSpc>
                <a:spcPct val="150000"/>
              </a:lnSpc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80BFA4-B550-98E7-6328-EB7F9EF9F61A}"/>
              </a:ext>
            </a:extLst>
          </p:cNvPr>
          <p:cNvSpPr txBox="1"/>
          <p:nvPr/>
        </p:nvSpPr>
        <p:spPr>
          <a:xfrm>
            <a:off x="277584" y="602324"/>
            <a:ext cx="4053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j-lt"/>
              </a:rPr>
              <a:t>Genome Annotation using PROKKA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0EC186-4BC8-B738-4224-B1FB4F3E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55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07E5-644D-047B-CA37-84A3C0CE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62" y="231775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Sequence Type Identification from BLAST+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DFD82-6085-8FD2-BD0E-F54B0C5B4A67}"/>
              </a:ext>
            </a:extLst>
          </p:cNvPr>
          <p:cNvSpPr txBox="1"/>
          <p:nvPr/>
        </p:nvSpPr>
        <p:spPr>
          <a:xfrm>
            <a:off x="94162" y="2983413"/>
            <a:ext cx="55065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blastn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-query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fasta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/SRR9860122.fasta 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16S_ribosomal_RNA -out seqtype_SRR9860122.txt 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outfmt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"6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qseqid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sseqid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pident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length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bitscore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stitle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" 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max_target_seqs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5 -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num_threads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5EB520-847D-71F2-0AAF-BCD3BF831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650"/>
          <a:stretch>
            <a:fillRect/>
          </a:stretch>
        </p:blipFill>
        <p:spPr>
          <a:xfrm>
            <a:off x="5638800" y="1557338"/>
            <a:ext cx="6459038" cy="47780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BFF55-9101-8AFB-4173-CD555795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26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C32F8F-E8A3-1E25-D4AF-0C9691754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507052"/>
              </p:ext>
            </p:extLst>
          </p:nvPr>
        </p:nvGraphicFramePr>
        <p:xfrm>
          <a:off x="457200" y="1969532"/>
          <a:ext cx="10801350" cy="4070828"/>
        </p:xfrm>
        <a:graphic>
          <a:graphicData uri="http://schemas.openxmlformats.org/drawingml/2006/table">
            <a:tbl>
              <a:tblPr/>
              <a:tblGrid>
                <a:gridCol w="3600450">
                  <a:extLst>
                    <a:ext uri="{9D8B030D-6E8A-4147-A177-3AD203B41FA5}">
                      <a16:colId xmlns:a16="http://schemas.microsoft.com/office/drawing/2014/main" val="670593808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342965036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242315040"/>
                    </a:ext>
                  </a:extLst>
                </a:gridCol>
              </a:tblGrid>
              <a:tr h="1017707"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Genome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Species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Sequence Type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908692"/>
                  </a:ext>
                </a:extLst>
              </a:tr>
              <a:tr h="1017707"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ERR485020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Lactobacillus </a:t>
                      </a:r>
                      <a:r>
                        <a:rPr lang="en-GB" sz="24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crispatus</a:t>
                      </a:r>
                      <a:endParaRPr lang="en-GB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16S rRNA gene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671392"/>
                  </a:ext>
                </a:extLst>
              </a:tr>
              <a:tr h="1017707"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SRR9860122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i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Lactobacillus xujianguonis</a:t>
                      </a:r>
                      <a:endParaRPr lang="en-GB" sz="24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16S rRNA gene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305063"/>
                  </a:ext>
                </a:extLst>
              </a:tr>
              <a:tr h="1017707"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SRR10240887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Lactobacillus </a:t>
                      </a:r>
                      <a:r>
                        <a:rPr lang="en-GB" sz="24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xujianguonis</a:t>
                      </a:r>
                      <a:endParaRPr lang="en-GB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16S rRNA gene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596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B28258A-0D75-90C5-14F4-244FAB3448B1}"/>
              </a:ext>
            </a:extLst>
          </p:cNvPr>
          <p:cNvSpPr txBox="1"/>
          <p:nvPr/>
        </p:nvSpPr>
        <p:spPr>
          <a:xfrm>
            <a:off x="457200" y="817640"/>
            <a:ext cx="8286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Summary Sequence Type BLAST+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240FC5-2454-BF1A-0A7B-5024E2F9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63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854CA6-4065-8E4F-DD54-A165E93725FC}"/>
              </a:ext>
            </a:extLst>
          </p:cNvPr>
          <p:cNvSpPr txBox="1"/>
          <p:nvPr/>
        </p:nvSpPr>
        <p:spPr>
          <a:xfrm>
            <a:off x="187778" y="1050562"/>
            <a:ext cx="11816444" cy="514833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Attempted to run 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pipeline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for phylogenetic placement, but faced technical difficulties that prevented successful execution. 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Genome annotation, sequence quality assessment and sequence typing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completed successfully using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PROKKA, 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and BLAST+ tools.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6900" indent="-342900">
              <a:buFont typeface="Wingdings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Established a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remote GitHub repository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where codes and files were deposited to track the progress of the bioinformatics research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606DA-4603-3E82-3991-7EBD00BB4EC2}"/>
              </a:ext>
            </a:extLst>
          </p:cNvPr>
          <p:cNvSpPr txBox="1"/>
          <p:nvPr/>
        </p:nvSpPr>
        <p:spPr>
          <a:xfrm>
            <a:off x="4123673" y="1365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Discussion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03BB50-877D-E215-6846-9814CDB9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62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566B8-5587-CDE7-74FE-98C1DDDD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3617" y="136525"/>
            <a:ext cx="10515600" cy="1325563"/>
          </a:xfrm>
        </p:spPr>
        <p:txBody>
          <a:bodyPr/>
          <a:lstStyle/>
          <a:p>
            <a:r>
              <a:rPr lang="en-GB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Future Directions</a:t>
            </a:r>
            <a:br>
              <a:rPr lang="en-GB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7D1F0-8D34-8213-4BC5-CA2BA0358395}"/>
              </a:ext>
            </a:extLst>
          </p:cNvPr>
          <p:cNvSpPr txBox="1"/>
          <p:nvPr/>
        </p:nvSpPr>
        <p:spPr>
          <a:xfrm>
            <a:off x="194582" y="1023711"/>
            <a:ext cx="11802836" cy="5563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Re-retrying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pipeline with corrected commands, following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-core guidelines.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Optimizing 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workflow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by properly configuring the environment, verifying input file compatibility, and using cloud computing if local resources are limited.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Testing other phylogenetic pipelines, such as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BEAST,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PhyloPhlAn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and IQ-TREE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Conducting further bioinformatic analysis, including antimicrobial resistance screening, to deepen genomic insights.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0897BF-009B-A682-FFAD-1F0016CF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53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D2FDA0-2F2A-DEBA-AE09-7D207857C5B7}"/>
              </a:ext>
            </a:extLst>
          </p:cNvPr>
          <p:cNvSpPr txBox="1"/>
          <p:nvPr/>
        </p:nvSpPr>
        <p:spPr>
          <a:xfrm>
            <a:off x="285750" y="1260355"/>
            <a:ext cx="11805558" cy="5277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Pipeline Execution: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	The 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pipeline failed to run successfully, restricting 	phylogenetic analysis and  interpretation of evolutionary relationships.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Sample Size: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	Because of possible space and memory constraints on laptop, only 3 samples were 	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, limiting statistical reliability and generalizability of phylogenetic conclusions.</a:t>
            </a:r>
          </a:p>
          <a:p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Lack of Published Validation: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	No peer-reviewed studies were found using the </a:t>
            </a:r>
            <a:r>
              <a:rPr lang="en-GB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 pipeline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, 	limiting confidence in its validation and scientific applicability.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0FA863-DD6D-3C2C-996F-B403549B2440}"/>
              </a:ext>
            </a:extLst>
          </p:cNvPr>
          <p:cNvSpPr txBox="1"/>
          <p:nvPr/>
        </p:nvSpPr>
        <p:spPr>
          <a:xfrm>
            <a:off x="3120416" y="136525"/>
            <a:ext cx="8859550" cy="901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Limitations and Caveats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5FA27E-541A-507B-B47C-E3BDE84D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41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680D7-DABC-F4FB-06A3-82CD1E80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8.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05578-1E43-54B3-BD18-7F0C48B4E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25563"/>
            <a:ext cx="11449050" cy="5167311"/>
          </a:xfrm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6800" dirty="0" err="1">
                <a:latin typeface="Arial" panose="020B0604020202020204" pitchFamily="34" charset="0"/>
                <a:cs typeface="Arial" panose="020B0604020202020204" pitchFamily="34" charset="0"/>
              </a:rPr>
              <a:t>Ewels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 PA, Peltzer A, Fillinger S, Patel H, </a:t>
            </a:r>
            <a:r>
              <a:rPr lang="en-GB" sz="6800" dirty="0" err="1">
                <a:latin typeface="Arial" panose="020B0604020202020204" pitchFamily="34" charset="0"/>
                <a:cs typeface="Arial" panose="020B0604020202020204" pitchFamily="34" charset="0"/>
              </a:rPr>
              <a:t>Alneberg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 J, Wilm A, Garcia MU, Di Tommaso P, </a:t>
            </a:r>
            <a:r>
              <a:rPr lang="en-GB" sz="6800" dirty="0" err="1">
                <a:latin typeface="Arial" panose="020B0604020202020204" pitchFamily="34" charset="0"/>
                <a:cs typeface="Arial" panose="020B0604020202020204" pitchFamily="34" charset="0"/>
              </a:rPr>
              <a:t>Nahnsen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GB" sz="6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6800" b="1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6800" b="1" dirty="0">
                <a:latin typeface="Arial" panose="020B0604020202020204" pitchFamily="34" charset="0"/>
                <a:cs typeface="Arial" panose="020B0604020202020204" pitchFamily="34" charset="0"/>
              </a:rPr>
              <a:t>-core framework for community-curated bioinformatics pipelines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6800" i="1" dirty="0">
                <a:latin typeface="Arial" panose="020B0604020202020204" pitchFamily="34" charset="0"/>
                <a:cs typeface="Arial" panose="020B0604020202020204" pitchFamily="34" charset="0"/>
              </a:rPr>
              <a:t>Nat </a:t>
            </a:r>
            <a:r>
              <a:rPr lang="en-GB" sz="6800" i="1" dirty="0" err="1">
                <a:latin typeface="Arial" panose="020B0604020202020204" pitchFamily="34" charset="0"/>
                <a:cs typeface="Arial" panose="020B0604020202020204" pitchFamily="34" charset="0"/>
              </a:rPr>
              <a:t>Biotechnol</a:t>
            </a:r>
            <a:r>
              <a:rPr lang="en-GB" sz="6800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2020 Mar;38(3):276-278.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6800" u="sng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 https://github.com/nf-core/phyloplace</a:t>
            </a: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6950" indent="-742950">
              <a:lnSpc>
                <a:spcPct val="120000"/>
              </a:lnSpc>
              <a:buFont typeface="+mj-lt"/>
              <a:buAutoNum type="arabicPeriod"/>
            </a:pP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https://github.com/uleth-advanced-bioinformatics/BCHM5420A-summer-2025</a:t>
            </a: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Petit RA 3rd, Read TD. </a:t>
            </a:r>
            <a:r>
              <a:rPr lang="en-GB" sz="6800" b="1" dirty="0" err="1">
                <a:latin typeface="Arial" panose="020B0604020202020204" pitchFamily="34" charset="0"/>
                <a:cs typeface="Arial" panose="020B0604020202020204" pitchFamily="34" charset="0"/>
              </a:rPr>
              <a:t>Bactopia</a:t>
            </a:r>
            <a:r>
              <a:rPr lang="en-GB" sz="6800" b="1" dirty="0">
                <a:latin typeface="Arial" panose="020B0604020202020204" pitchFamily="34" charset="0"/>
                <a:cs typeface="Arial" panose="020B0604020202020204" pitchFamily="34" charset="0"/>
              </a:rPr>
              <a:t>: a Flexible Pipeline for Complete Analysis of Bacterial Genomes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6800" i="1" dirty="0" err="1">
                <a:latin typeface="Arial" panose="020B0604020202020204" pitchFamily="34" charset="0"/>
                <a:cs typeface="Arial" panose="020B0604020202020204" pitchFamily="34" charset="0"/>
              </a:rPr>
              <a:t>mSystems</a:t>
            </a:r>
            <a:r>
              <a:rPr lang="en-GB" sz="6800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2020 Aug 4;5(4):e00190-20. </a:t>
            </a:r>
          </a:p>
          <a:p>
            <a:pPr marL="0" indent="0">
              <a:lnSpc>
                <a:spcPct val="150000"/>
              </a:lnSpc>
              <a:buNone/>
            </a:pP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C2248-08FB-2DF8-05A9-1D331B778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44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1F4B-A61A-F4FF-BBE9-F44BE2D48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51A5A-1425-C91F-6F33-19FC970A0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n-GB" sz="4000" b="1" dirty="0">
                <a:solidFill>
                  <a:srgbClr val="FF0000"/>
                </a:solidFill>
                <a:latin typeface="+mj-lt"/>
              </a:rPr>
              <a:t>Thank You</a:t>
            </a:r>
            <a:r>
              <a:rPr lang="en-GB" sz="4000" dirty="0">
                <a:solidFill>
                  <a:srgbClr val="FF0000"/>
                </a:solidFill>
                <a:latin typeface="+mj-lt"/>
              </a:rPr>
              <a:t>.   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GB" sz="4000" b="1" dirty="0">
                <a:solidFill>
                  <a:srgbClr val="FF0000"/>
                </a:solidFill>
                <a:latin typeface="+mj-lt"/>
              </a:rPr>
              <a:t>Questions?</a:t>
            </a:r>
            <a:endParaRPr lang="en-GB" sz="4000" dirty="0">
              <a:solidFill>
                <a:srgbClr val="FF0000"/>
              </a:solidFill>
              <a:latin typeface="+mj-lt"/>
            </a:endParaRPr>
          </a:p>
          <a:p>
            <a:pPr marL="0" indent="0" algn="ctr">
              <a:lnSpc>
                <a:spcPct val="250000"/>
              </a:lnSpc>
              <a:buNone/>
            </a:pP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99B96-F0C7-0176-0437-78C50CB3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1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1107</Words>
  <Application>Microsoft Macintosh PowerPoint</Application>
  <PresentationFormat>Widescreen</PresentationFormat>
  <Paragraphs>152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Wingdings</vt:lpstr>
      <vt:lpstr>Office Theme</vt:lpstr>
      <vt:lpstr>PowerPoint Presentation</vt:lpstr>
      <vt:lpstr>Contents</vt:lpstr>
      <vt:lpstr>1. Background information </vt:lpstr>
      <vt:lpstr>The bioinformatic tools that my project focused:</vt:lpstr>
      <vt:lpstr>Uses of nf-core/phyloplace</vt:lpstr>
      <vt:lpstr>2. Research question &amp; hypothesis </vt:lpstr>
      <vt:lpstr>PowerPoint Presentation</vt:lpstr>
      <vt:lpstr>Step 1: download In-put files</vt:lpstr>
      <vt:lpstr>2. Pipeline Command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Quality Control  using FASTQC</vt:lpstr>
      <vt:lpstr>PowerPoint Presentation</vt:lpstr>
      <vt:lpstr>Sequence Type Identification from BLAST+</vt:lpstr>
      <vt:lpstr>PowerPoint Presentation</vt:lpstr>
      <vt:lpstr>PowerPoint Presentation</vt:lpstr>
      <vt:lpstr>6. Future Directions </vt:lpstr>
      <vt:lpstr>PowerPoint Presentation</vt:lpstr>
      <vt:lpstr>8.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poudel</dc:creator>
  <cp:lastModifiedBy>ajay poudel</cp:lastModifiedBy>
  <cp:revision>47</cp:revision>
  <dcterms:created xsi:type="dcterms:W3CDTF">2025-06-06T04:27:08Z</dcterms:created>
  <dcterms:modified xsi:type="dcterms:W3CDTF">2025-06-09T22:47:07Z</dcterms:modified>
</cp:coreProperties>
</file>